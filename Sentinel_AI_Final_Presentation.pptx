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Tanmay Gawali: Good morning respected evaluators and guests. I am Tanmay Gawali, Lead Architect of Sentinel AI. Today, along with my teammates Divij Kulkarni, Soham Wadale, and Ananya Kaushik, we present Sentinel AI—an intelligent, low-overhead Endpoint Detection and Response platform engineered for local desktop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Tanmay Gawali: Modern fileless malware and ransomware render static antivirus obsolete, while commercial cloud EDRs introduce bandwidth latency and privacy concerns. Sentinel AI solves this gap by performing 100% of threat classification locally on the device using native Rust probing and an embedded ONNX AI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Tanmay Gawali: Here is our technical ownership breakdown. As Team Lead, I designed the overall architecture and AI engine. Divij built the native Rust system probing service. Soham developed the network socket tracker and subnet scanner. Ananya engineered our React UI, MITRE triage matrix, and NIST 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Divij Kulkarni: Hello everyone, I am Divij Kulkarni. We chose Tauri v2 and Rust for our backend infrastructure because an security monitoring agent must itself be lightweight. By leveraging native Win32 APIs and Event Tracing for Windows, Rust probes system events in real time while using 70% less RAM than Electron.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Divij Kulkarni: Module 1 continuously monitors all active host processes. Using ETW and Win32 calls, it audits digital signatures, computes SHA-256 hashes, and checks behavioral rules—such as detecting command prompts spawned by Office applications—all under 1.5% CPU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Tanmay Gawali: I engineered the AI Detection Engine. Rather than relying on static signatures, we trained an ensemble Random Forest model on 15 process feature vectors. Exported to ONNX format, our Rust backend runs inference locally in under 2.4 milliseconds with 98.4% accuracy, providing explainable feature breakdowns per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Soham Wadale: Hello, I am Soham Wadale. I developed the Network Telemetry and Subnet Scanner modules. Sentinel AI correlates active TCP/UDP sockets directly to local process PIDs while maintaining privacy by inspecting metadata only. Furthermore, our device scanner uses ARP and mDNS to detect rogue devices and MAC spoofing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Soham Wadale: Over 80% of persistent malware attempts autostart registration to survive system reboots. Our Persistence Module watches Windows Registry Run keys, startup folders, and scheduled tasks, computing SHA-256 hashes and tagging autostart modifications with MITRE technique T1547.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Ananya Kaushik: Greetings evaluators, I am Ananya Kaushik. I led the UI Architecture and Compliance Integration. Sentinel AI maps all alerts directly to the MITRE ATT&amp;CK matrix. For incident response, our console generates standardized NIST SP 800-61 Rev. 2 forensic packages with full telemetry and remediation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Ananya Kaushik: We designed our UI to give security analysts immediate visual clarity. Built in React 18 with modern dark-mode styling, the console features an Executive Overview, interactive Process Table, visual MITRE Heatmap grid, and an instant Incident Export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Divij Kulkarni: Empirical testing confirms Sentinel AI consumes only 42 MB of RAM and 1.8% CPU overhead. Local ONNX inference evaluates processes in 2.4 milliseconds. All privileged actions like process termination require explicit user confirmation, ensuring operational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Soham Wadale: Looking ahead, our post-MVP roadmap includes expanding cross-platform support via Linux eBPF, implementing automated process isolation, YARA memory scanning, and building SIEM export connectors for Splunk and Microsoft Sentinel.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Team Members: Thank you for your time and evaluation. We are proud of what we have accomplished with Sentinel AI and welcome your questions, feedback, and technical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457200"/>
            <a:ext cx="8229600" cy="320040"/>
          </a:xfrm>
          <a:prstGeom prst="rect">
            <a:avLst/>
          </a:prstGeom>
          <a:noFill/>
          <a:ln/>
        </p:spPr>
        <p:txBody>
          <a:bodyPr wrap="square" rtlCol="0" anchor="ctr"/>
          <a:lstStyle/>
          <a:p>
            <a:pPr algn="ctr" indent="0" marL="0">
              <a:buNone/>
            </a:pPr>
            <a:r>
              <a:rPr lang="en-US" sz="1100" b="1" dirty="0">
                <a:solidFill>
                  <a:srgbClr val="0284C7"/>
                </a:solidFill>
                <a:latin typeface="Arial" pitchFamily="34" charset="0"/>
                <a:ea typeface="Arial" pitchFamily="34" charset="-122"/>
                <a:cs typeface="Arial" pitchFamily="34" charset="-120"/>
              </a:rPr>
              <a:t>CAPSTONE PROJECT &amp; INDUSTRY EVALUATION</a:t>
            </a:r>
            <a:endParaRPr lang="en-US" sz="1100" dirty="0"/>
          </a:p>
        </p:txBody>
      </p:sp>
      <p:sp>
        <p:nvSpPr>
          <p:cNvPr id="3" name="Text 1"/>
          <p:cNvSpPr/>
          <p:nvPr/>
        </p:nvSpPr>
        <p:spPr>
          <a:xfrm>
            <a:off x="457200" y="868680"/>
            <a:ext cx="8229600" cy="685800"/>
          </a:xfrm>
          <a:prstGeom prst="rect">
            <a:avLst/>
          </a:prstGeom>
          <a:noFill/>
          <a:ln/>
        </p:spPr>
        <p:txBody>
          <a:bodyPr wrap="square"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SENTINEL AI</a:t>
            </a:r>
            <a:endParaRPr lang="en-US" sz="3600" dirty="0"/>
          </a:p>
        </p:txBody>
      </p:sp>
      <p:sp>
        <p:nvSpPr>
          <p:cNvPr id="4" name="Text 2"/>
          <p:cNvSpPr/>
          <p:nvPr/>
        </p:nvSpPr>
        <p:spPr>
          <a:xfrm>
            <a:off x="457200" y="1554480"/>
            <a:ext cx="8229600" cy="365760"/>
          </a:xfrm>
          <a:prstGeom prst="rect">
            <a:avLst/>
          </a:prstGeom>
          <a:noFill/>
          <a:ln/>
        </p:spPr>
        <p:txBody>
          <a:bodyPr wrap="square" rtlCol="0" anchor="ctr"/>
          <a:lstStyle/>
          <a:p>
            <a:pPr algn="ctr" indent="0" marL="0">
              <a:buNone/>
            </a:pPr>
            <a:r>
              <a:rPr lang="en-US" sz="1400" dirty="0">
                <a:solidFill>
                  <a:srgbClr val="CBD5E1"/>
                </a:solidFill>
                <a:latin typeface="Arial" pitchFamily="34" charset="0"/>
                <a:ea typeface="Arial" pitchFamily="34" charset="-122"/>
                <a:cs typeface="Arial" pitchFamily="34" charset="-120"/>
              </a:rPr>
              <a:t>Intelligent Endpoint Threat Detection and Response (EDR) Platform</a:t>
            </a:r>
            <a:endParaRPr lang="en-US" sz="1400" dirty="0"/>
          </a:p>
        </p:txBody>
      </p:sp>
      <p:sp>
        <p:nvSpPr>
          <p:cNvPr id="5" name="Text 3"/>
          <p:cNvSpPr/>
          <p:nvPr/>
        </p:nvSpPr>
        <p:spPr>
          <a:xfrm>
            <a:off x="457200" y="1965960"/>
            <a:ext cx="8229600" cy="320040"/>
          </a:xfrm>
          <a:prstGeom prst="rect">
            <a:avLst/>
          </a:prstGeom>
          <a:noFill/>
          <a:ln/>
        </p:spPr>
        <p:txBody>
          <a:bodyPr wrap="square" rtlCol="0" anchor="ctr"/>
          <a:lstStyle/>
          <a:p>
            <a:pPr algn="ctr" indent="0" marL="0">
              <a:buNone/>
            </a:pPr>
            <a:r>
              <a:rPr lang="en-US" sz="950" b="1" dirty="0">
                <a:solidFill>
                  <a:srgbClr val="0284C7"/>
                </a:solidFill>
                <a:latin typeface="Arial" pitchFamily="34" charset="0"/>
                <a:ea typeface="Arial" pitchFamily="34" charset="-122"/>
                <a:cs typeface="Arial" pitchFamily="34" charset="-120"/>
              </a:rPr>
              <a:t>Tauri v2  |  Rust  |  React 18  |  TypeScript  |  ONNX Runtime ML  |  SQLite  |  MITRE ATT&amp;CK</a:t>
            </a:r>
            <a:endParaRPr lang="en-US" sz="950" dirty="0"/>
          </a:p>
        </p:txBody>
      </p:sp>
      <p:sp>
        <p:nvSpPr>
          <p:cNvPr id="6" name="Shape 4"/>
          <p:cNvSpPr/>
          <p:nvPr/>
        </p:nvSpPr>
        <p:spPr>
          <a:xfrm>
            <a:off x="457200" y="2606040"/>
            <a:ext cx="1920240" cy="2011680"/>
          </a:xfrm>
          <a:prstGeom prst="roundRect">
            <a:avLst>
              <a:gd name="adj" fmla="val 4762"/>
            </a:avLst>
          </a:prstGeom>
          <a:solidFill>
            <a:srgbClr val="1E293B"/>
          </a:solidFill>
          <a:ln w="12700">
            <a:solidFill>
              <a:srgbClr val="334155"/>
            </a:solidFill>
            <a:prstDash val="solid"/>
          </a:ln>
        </p:spPr>
      </p:sp>
      <p:sp>
        <p:nvSpPr>
          <p:cNvPr id="7" name="Text 5"/>
          <p:cNvSpPr/>
          <p:nvPr/>
        </p:nvSpPr>
        <p:spPr>
          <a:xfrm>
            <a:off x="457200" y="2834640"/>
            <a:ext cx="1920240" cy="36576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457200" y="3337560"/>
            <a:ext cx="19202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Tanmay Gawali</a:t>
            </a:r>
            <a:endParaRPr lang="en-US" sz="1100" dirty="0"/>
          </a:p>
        </p:txBody>
      </p:sp>
      <p:sp>
        <p:nvSpPr>
          <p:cNvPr id="9" name="Text 7"/>
          <p:cNvSpPr/>
          <p:nvPr/>
        </p:nvSpPr>
        <p:spPr>
          <a:xfrm>
            <a:off x="457200" y="3703320"/>
            <a:ext cx="1920240" cy="640080"/>
          </a:xfrm>
          <a:prstGeom prst="rect">
            <a:avLst/>
          </a:prstGeom>
          <a:noFill/>
          <a:ln/>
        </p:spPr>
        <p:txBody>
          <a:bodyPr wrap="square"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Team Lead &amp; AI Architect</a:t>
            </a:r>
            <a:endParaRPr lang="en-US" sz="900" dirty="0"/>
          </a:p>
        </p:txBody>
      </p:sp>
      <p:sp>
        <p:nvSpPr>
          <p:cNvPr id="10" name="Shape 8"/>
          <p:cNvSpPr/>
          <p:nvPr/>
        </p:nvSpPr>
        <p:spPr>
          <a:xfrm>
            <a:off x="2560320" y="2606040"/>
            <a:ext cx="1920240" cy="2011680"/>
          </a:xfrm>
          <a:prstGeom prst="roundRect">
            <a:avLst>
              <a:gd name="adj" fmla="val 4762"/>
            </a:avLst>
          </a:prstGeom>
          <a:solidFill>
            <a:srgbClr val="1E293B"/>
          </a:solidFill>
          <a:ln w="12700">
            <a:solidFill>
              <a:srgbClr val="334155"/>
            </a:solidFill>
            <a:prstDash val="solid"/>
          </a:ln>
        </p:spPr>
      </p:sp>
      <p:sp>
        <p:nvSpPr>
          <p:cNvPr id="11" name="Text 9"/>
          <p:cNvSpPr/>
          <p:nvPr/>
        </p:nvSpPr>
        <p:spPr>
          <a:xfrm>
            <a:off x="2560320" y="2834640"/>
            <a:ext cx="1920240" cy="36576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2" name="Text 10"/>
          <p:cNvSpPr/>
          <p:nvPr/>
        </p:nvSpPr>
        <p:spPr>
          <a:xfrm>
            <a:off x="2560320" y="3337560"/>
            <a:ext cx="19202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Divij Kulkarni</a:t>
            </a:r>
            <a:endParaRPr lang="en-US" sz="1100" dirty="0"/>
          </a:p>
        </p:txBody>
      </p:sp>
      <p:sp>
        <p:nvSpPr>
          <p:cNvPr id="13" name="Text 11"/>
          <p:cNvSpPr/>
          <p:nvPr/>
        </p:nvSpPr>
        <p:spPr>
          <a:xfrm>
            <a:off x="2560320" y="3703320"/>
            <a:ext cx="1920240" cy="640080"/>
          </a:xfrm>
          <a:prstGeom prst="rect">
            <a:avLst/>
          </a:prstGeom>
          <a:noFill/>
          <a:ln/>
        </p:spPr>
        <p:txBody>
          <a:bodyPr wrap="square"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Rust Core &amp; Systems Engineer</a:t>
            </a:r>
            <a:endParaRPr lang="en-US" sz="900" dirty="0"/>
          </a:p>
        </p:txBody>
      </p:sp>
      <p:sp>
        <p:nvSpPr>
          <p:cNvPr id="14" name="Shape 12"/>
          <p:cNvSpPr/>
          <p:nvPr/>
        </p:nvSpPr>
        <p:spPr>
          <a:xfrm>
            <a:off x="4663440" y="2606040"/>
            <a:ext cx="1920240" cy="2011680"/>
          </a:xfrm>
          <a:prstGeom prst="roundRect">
            <a:avLst>
              <a:gd name="adj" fmla="val 4762"/>
            </a:avLst>
          </a:prstGeom>
          <a:solidFill>
            <a:srgbClr val="1E293B"/>
          </a:solidFill>
          <a:ln w="12700">
            <a:solidFill>
              <a:srgbClr val="334155"/>
            </a:solidFill>
            <a:prstDash val="solid"/>
          </a:ln>
        </p:spPr>
      </p:sp>
      <p:sp>
        <p:nvSpPr>
          <p:cNvPr id="15" name="Text 13"/>
          <p:cNvSpPr/>
          <p:nvPr/>
        </p:nvSpPr>
        <p:spPr>
          <a:xfrm>
            <a:off x="4663440" y="2834640"/>
            <a:ext cx="1920240" cy="36576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6" name="Text 14"/>
          <p:cNvSpPr/>
          <p:nvPr/>
        </p:nvSpPr>
        <p:spPr>
          <a:xfrm>
            <a:off x="4663440" y="3337560"/>
            <a:ext cx="19202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Soham Wadale</a:t>
            </a:r>
            <a:endParaRPr lang="en-US" sz="1100" dirty="0"/>
          </a:p>
        </p:txBody>
      </p:sp>
      <p:sp>
        <p:nvSpPr>
          <p:cNvPr id="17" name="Text 15"/>
          <p:cNvSpPr/>
          <p:nvPr/>
        </p:nvSpPr>
        <p:spPr>
          <a:xfrm>
            <a:off x="4663440" y="3703320"/>
            <a:ext cx="1920240" cy="640080"/>
          </a:xfrm>
          <a:prstGeom prst="rect">
            <a:avLst/>
          </a:prstGeom>
          <a:noFill/>
          <a:ln/>
        </p:spPr>
        <p:txBody>
          <a:bodyPr wrap="square"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Network Telemetry Engineer</a:t>
            </a:r>
            <a:endParaRPr lang="en-US" sz="900" dirty="0"/>
          </a:p>
        </p:txBody>
      </p:sp>
      <p:sp>
        <p:nvSpPr>
          <p:cNvPr id="18" name="Shape 16"/>
          <p:cNvSpPr/>
          <p:nvPr/>
        </p:nvSpPr>
        <p:spPr>
          <a:xfrm>
            <a:off x="6766560" y="2606040"/>
            <a:ext cx="1920240" cy="2011680"/>
          </a:xfrm>
          <a:prstGeom prst="roundRect">
            <a:avLst>
              <a:gd name="adj" fmla="val 4762"/>
            </a:avLst>
          </a:prstGeom>
          <a:solidFill>
            <a:srgbClr val="1E293B"/>
          </a:solidFill>
          <a:ln w="12700">
            <a:solidFill>
              <a:srgbClr val="334155"/>
            </a:solidFill>
            <a:prstDash val="solid"/>
          </a:ln>
        </p:spPr>
      </p:sp>
      <p:sp>
        <p:nvSpPr>
          <p:cNvPr id="19" name="Text 17"/>
          <p:cNvSpPr/>
          <p:nvPr/>
        </p:nvSpPr>
        <p:spPr>
          <a:xfrm>
            <a:off x="6766560" y="2834640"/>
            <a:ext cx="1920240" cy="36576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0" name="Text 18"/>
          <p:cNvSpPr/>
          <p:nvPr/>
        </p:nvSpPr>
        <p:spPr>
          <a:xfrm>
            <a:off x="6766560" y="3337560"/>
            <a:ext cx="19202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Ananya Kaushik</a:t>
            </a:r>
            <a:endParaRPr lang="en-US" sz="1100" dirty="0"/>
          </a:p>
        </p:txBody>
      </p:sp>
      <p:sp>
        <p:nvSpPr>
          <p:cNvPr id="21" name="Text 19"/>
          <p:cNvSpPr/>
          <p:nvPr/>
        </p:nvSpPr>
        <p:spPr>
          <a:xfrm>
            <a:off x="6766560" y="3703320"/>
            <a:ext cx="1920240" cy="640080"/>
          </a:xfrm>
          <a:prstGeom prst="rect">
            <a:avLst/>
          </a:prstGeom>
          <a:noFill/>
          <a:ln/>
        </p:spPr>
        <p:txBody>
          <a:bodyPr wrap="square"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Frontend &amp; Compliance Lead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The Endpoint Security Challenge</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Limitations of Legacy Signature Antivirus &amp; Heavy Cloud EDRs</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Tanmay Gawali</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3657600"/>
          </a:xfrm>
          <a:prstGeom prst="roundRect">
            <a:avLst>
              <a:gd name="adj" fmla="val 2500"/>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Current Industry Vulnerabilities</a:t>
            </a:r>
            <a:endParaRPr lang="en-US" sz="1150" dirty="0"/>
          </a:p>
        </p:txBody>
      </p:sp>
      <p:sp>
        <p:nvSpPr>
          <p:cNvPr id="10" name="Text 8"/>
          <p:cNvSpPr/>
          <p:nvPr/>
        </p:nvSpPr>
        <p:spPr>
          <a:xfrm>
            <a:off x="59436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Stealth Fileless Malware: </a:t>
            </a:r>
            <a:pPr indent="0" marL="0">
              <a:spcBef>
                <a:spcPts val="300"/>
              </a:spcBef>
              <a:buNone/>
            </a:pPr>
            <a:r>
              <a:rPr lang="en-US" sz="950" dirty="0">
                <a:solidFill>
                  <a:srgbClr val="1E293B"/>
                </a:solidFill>
                <a:latin typeface="Arial" pitchFamily="34" charset="0"/>
                <a:ea typeface="Arial" pitchFamily="34" charset="-122"/>
                <a:cs typeface="Arial" pitchFamily="34" charset="-120"/>
              </a:rPr>
              <a:t>PowerShell scripts and living-off-the-land binaries bypass traditional static antivirus signatures.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High Cloud Latency: </a:t>
            </a:r>
            <a:pPr indent="0" marL="0">
              <a:spcBef>
                <a:spcPts val="300"/>
              </a:spcBef>
              <a:buNone/>
            </a:pPr>
            <a:r>
              <a:rPr lang="en-US" sz="950" dirty="0">
                <a:solidFill>
                  <a:srgbClr val="1E293B"/>
                </a:solidFill>
                <a:latin typeface="Arial" pitchFamily="34" charset="0"/>
                <a:ea typeface="Arial" pitchFamily="34" charset="-122"/>
                <a:cs typeface="Arial" pitchFamily="34" charset="-120"/>
              </a:rPr>
              <a:t>Streaming raw host telemetry to cloud SIEM servers causes network overhead and delays threat response.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Privacy &amp; Compliance Risks: </a:t>
            </a:r>
            <a:pPr indent="0" marL="0">
              <a:spcBef>
                <a:spcPts val="300"/>
              </a:spcBef>
              <a:buNone/>
            </a:pPr>
            <a:r>
              <a:rPr lang="en-US" sz="950" dirty="0">
                <a:solidFill>
                  <a:srgbClr val="1E293B"/>
                </a:solidFill>
                <a:latin typeface="Arial" pitchFamily="34" charset="0"/>
                <a:ea typeface="Arial" pitchFamily="34" charset="-122"/>
                <a:cs typeface="Arial" pitchFamily="34" charset="-120"/>
              </a:rPr>
              <a:t>Transmitting full packet payloads across external networks risks GDPR/HIPAA compliance violations.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Heavy Resource Overhead: </a:t>
            </a:r>
            <a:pPr indent="0" marL="0">
              <a:spcBef>
                <a:spcPts val="300"/>
              </a:spcBef>
              <a:buNone/>
            </a:pPr>
            <a:r>
              <a:rPr lang="en-US" sz="950" dirty="0">
                <a:solidFill>
                  <a:srgbClr val="1E293B"/>
                </a:solidFill>
                <a:latin typeface="Arial" pitchFamily="34" charset="0"/>
                <a:ea typeface="Arial" pitchFamily="34" charset="-122"/>
                <a:cs typeface="Arial" pitchFamily="34" charset="-120"/>
              </a:rPr>
              <a:t>Commercial EDR agents frequently consume 15-25% CPU, degrading host device performance.
</a:t>
            </a:r>
            <a:endParaRPr lang="en-US" sz="950" dirty="0"/>
          </a:p>
        </p:txBody>
      </p:sp>
      <p:sp>
        <p:nvSpPr>
          <p:cNvPr id="11" name="Shape 9"/>
          <p:cNvSpPr/>
          <p:nvPr/>
        </p:nvSpPr>
        <p:spPr>
          <a:xfrm>
            <a:off x="4709160" y="1097280"/>
            <a:ext cx="3977640" cy="3657600"/>
          </a:xfrm>
          <a:prstGeom prst="roundRect">
            <a:avLst>
              <a:gd name="adj" fmla="val 2500"/>
            </a:avLst>
          </a:prstGeom>
          <a:solidFill>
            <a:srgbClr val="FFFFFF"/>
          </a:solidFill>
          <a:ln w="19050">
            <a:solidFill>
              <a:srgbClr val="0284C7"/>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0284C7"/>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The Sentinel AI Solution</a:t>
            </a:r>
            <a:endParaRPr lang="en-US" sz="1150" dirty="0"/>
          </a:p>
        </p:txBody>
      </p:sp>
      <p:sp>
        <p:nvSpPr>
          <p:cNvPr id="14" name="Text 12"/>
          <p:cNvSpPr/>
          <p:nvPr/>
        </p:nvSpPr>
        <p:spPr>
          <a:xfrm>
            <a:off x="484632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100% On-Device Protection: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Local machine learning inference (ONNX Runtime) with zero cloud server dependency.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Sub-Millisecond Probing: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Native Rust background service leveraging low-overhead Event Tracing for Windows (ETW).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Metadata-Only Inspection: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5-tuple network flow correlation without intrusive TLS packet payload decryption.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Automated Incident Export: </a:t>
            </a:r>
            <a:pPr indent="0" marL="0">
              <a:spcBef>
                <a:spcPts val="300"/>
              </a:spcBef>
              <a:buNone/>
            </a:pPr>
            <a:r>
              <a:rPr lang="en-US" sz="950" dirty="0">
                <a:solidFill>
                  <a:srgbClr val="1E293B"/>
                </a:solidFill>
                <a:latin typeface="Arial" pitchFamily="34" charset="0"/>
                <a:ea typeface="Arial" pitchFamily="34" charset="-122"/>
                <a:cs typeface="Arial" pitchFamily="34" charset="-120"/>
              </a:rPr>
              <a:t>Generates standardized NIST SP 800-61 Rev. 2 forensic packages for security operations.
</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Team Role Allocation &amp; Technical Ownership</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Structured Division of Responsibilities Across Architecture, Core &amp; Compliance</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Tanmay Gawali</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1737360"/>
          </a:xfrm>
          <a:prstGeom prst="roundRect">
            <a:avLst>
              <a:gd name="adj" fmla="val 5263"/>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Tanmay Gawali (Team Lead) — AI Engine Architect</a:t>
            </a:r>
            <a:endParaRPr lang="en-US" sz="1150" dirty="0"/>
          </a:p>
        </p:txBody>
      </p:sp>
      <p:sp>
        <p:nvSpPr>
          <p:cNvPr id="10" name="Text 8"/>
          <p:cNvSpPr/>
          <p:nvPr/>
        </p:nvSpPr>
        <p:spPr>
          <a:xfrm>
            <a:off x="594360" y="1481328"/>
            <a:ext cx="3703320" cy="129844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Technical Scope: </a:t>
            </a:r>
            <a:pPr indent="0" marL="0">
              <a:spcBef>
                <a:spcPts val="300"/>
              </a:spcBef>
              <a:buNone/>
            </a:pPr>
            <a:r>
              <a:rPr lang="en-US" sz="950" dirty="0">
                <a:solidFill>
                  <a:srgbClr val="1E293B"/>
                </a:solidFill>
                <a:latin typeface="Arial" pitchFamily="34" charset="0"/>
                <a:ea typeface="Arial" pitchFamily="34" charset="-122"/>
                <a:cs typeface="Arial" pitchFamily="34" charset="-120"/>
              </a:rPr>
              <a:t>ONNX ML Model Training, 15-Vector Feature Extraction, AI Explainability.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Presentation Focus: </a:t>
            </a:r>
            <a:pPr indent="0" marL="0">
              <a:spcBef>
                <a:spcPts val="300"/>
              </a:spcBef>
              <a:buNone/>
            </a:pPr>
            <a:r>
              <a:rPr lang="en-US" sz="950" dirty="0">
                <a:solidFill>
                  <a:srgbClr val="1E293B"/>
                </a:solidFill>
                <a:latin typeface="Arial" pitchFamily="34" charset="0"/>
                <a:ea typeface="Arial" pitchFamily="34" charset="-122"/>
                <a:cs typeface="Arial" pitchFamily="34" charset="-120"/>
              </a:rPr>
              <a:t>Project Vision, Problem Statement, ML Detection Engine &amp; Q&amp;A Lead.
</a:t>
            </a:r>
            <a:endParaRPr lang="en-US" sz="950" dirty="0"/>
          </a:p>
        </p:txBody>
      </p:sp>
      <p:sp>
        <p:nvSpPr>
          <p:cNvPr id="11" name="Shape 9"/>
          <p:cNvSpPr/>
          <p:nvPr/>
        </p:nvSpPr>
        <p:spPr>
          <a:xfrm>
            <a:off x="4709160" y="1097280"/>
            <a:ext cx="3977640" cy="1737360"/>
          </a:xfrm>
          <a:prstGeom prst="roundRect">
            <a:avLst>
              <a:gd name="adj" fmla="val 5263"/>
            </a:avLst>
          </a:prstGeom>
          <a:solidFill>
            <a:srgbClr val="FFFFFF"/>
          </a:solidFill>
          <a:ln w="19050">
            <a:solidFill>
              <a:srgbClr val="E2E8F0"/>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E2E8F0"/>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Divij Kulkarni — Rust Core &amp; Systems Engineer</a:t>
            </a:r>
            <a:endParaRPr lang="en-US" sz="1150" dirty="0"/>
          </a:p>
        </p:txBody>
      </p:sp>
      <p:sp>
        <p:nvSpPr>
          <p:cNvPr id="14" name="Text 12"/>
          <p:cNvSpPr/>
          <p:nvPr/>
        </p:nvSpPr>
        <p:spPr>
          <a:xfrm>
            <a:off x="4846320" y="1481328"/>
            <a:ext cx="3703320" cy="129844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Technical Scope: </a:t>
            </a:r>
            <a:pPr indent="0" marL="0">
              <a:spcBef>
                <a:spcPts val="300"/>
              </a:spcBef>
              <a:buNone/>
            </a:pPr>
            <a:r>
              <a:rPr lang="en-US" sz="950" dirty="0">
                <a:solidFill>
                  <a:srgbClr val="1E293B"/>
                </a:solidFill>
                <a:latin typeface="Arial" pitchFamily="34" charset="0"/>
                <a:ea typeface="Arial" pitchFamily="34" charset="-122"/>
                <a:cs typeface="Arial" pitchFamily="34" charset="-120"/>
              </a:rPr>
              <a:t>Tauri v2 IPC Architecture, ETW Process Monitoring, Win32 System Probing, SQLite DDL.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Presentation Focus: </a:t>
            </a:r>
            <a:pPr indent="0" marL="0">
              <a:spcBef>
                <a:spcPts val="300"/>
              </a:spcBef>
              <a:buNone/>
            </a:pPr>
            <a:r>
              <a:rPr lang="en-US" sz="950" dirty="0">
                <a:solidFill>
                  <a:srgbClr val="1E293B"/>
                </a:solidFill>
                <a:latin typeface="Arial" pitchFamily="34" charset="0"/>
                <a:ea typeface="Arial" pitchFamily="34" charset="-122"/>
                <a:cs typeface="Arial" pitchFamily="34" charset="-120"/>
              </a:rPr>
              <a:t>Tech Stack Justification, Real-Time Process Monitor, Benchmarks.
</a:t>
            </a:r>
            <a:endParaRPr lang="en-US" sz="950" dirty="0"/>
          </a:p>
        </p:txBody>
      </p:sp>
      <p:sp>
        <p:nvSpPr>
          <p:cNvPr id="15" name="Shape 13"/>
          <p:cNvSpPr/>
          <p:nvPr/>
        </p:nvSpPr>
        <p:spPr>
          <a:xfrm>
            <a:off x="457200" y="2971800"/>
            <a:ext cx="3977640" cy="1737360"/>
          </a:xfrm>
          <a:prstGeom prst="roundRect">
            <a:avLst>
              <a:gd name="adj" fmla="val 5263"/>
            </a:avLst>
          </a:prstGeom>
          <a:solidFill>
            <a:srgbClr val="FFFFFF"/>
          </a:solidFill>
          <a:ln w="19050">
            <a:solidFill>
              <a:srgbClr val="E2E8F0"/>
            </a:solidFill>
            <a:prstDash val="solid"/>
          </a:ln>
        </p:spPr>
      </p:sp>
      <p:sp>
        <p:nvSpPr>
          <p:cNvPr id="16" name="Shape 14"/>
          <p:cNvSpPr/>
          <p:nvPr/>
        </p:nvSpPr>
        <p:spPr>
          <a:xfrm>
            <a:off x="457200" y="2971800"/>
            <a:ext cx="3977640" cy="347472"/>
          </a:xfrm>
          <a:prstGeom prst="rect">
            <a:avLst/>
          </a:prstGeom>
          <a:solidFill>
            <a:srgbClr val="F8FAFC"/>
          </a:solidFill>
          <a:ln w="12700">
            <a:solidFill>
              <a:srgbClr val="E2E8F0"/>
            </a:solidFill>
            <a:prstDash val="solid"/>
          </a:ln>
        </p:spPr>
      </p:sp>
      <p:sp>
        <p:nvSpPr>
          <p:cNvPr id="17" name="Text 15"/>
          <p:cNvSpPr/>
          <p:nvPr/>
        </p:nvSpPr>
        <p:spPr>
          <a:xfrm>
            <a:off x="594360" y="300837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Soham Wadale — Network &amp; Subnet Engineer</a:t>
            </a:r>
            <a:endParaRPr lang="en-US" sz="1150" dirty="0"/>
          </a:p>
        </p:txBody>
      </p:sp>
      <p:sp>
        <p:nvSpPr>
          <p:cNvPr id="18" name="Text 16"/>
          <p:cNvSpPr/>
          <p:nvPr/>
        </p:nvSpPr>
        <p:spPr>
          <a:xfrm>
            <a:off x="594360" y="3355848"/>
            <a:ext cx="3703320" cy="129844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Technical Scope: </a:t>
            </a:r>
            <a:pPr indent="0" marL="0">
              <a:spcBef>
                <a:spcPts val="300"/>
              </a:spcBef>
              <a:buNone/>
            </a:pPr>
            <a:r>
              <a:rPr lang="en-US" sz="950" dirty="0">
                <a:solidFill>
                  <a:srgbClr val="1E293B"/>
                </a:solidFill>
                <a:latin typeface="Arial" pitchFamily="34" charset="0"/>
                <a:ea typeface="Arial" pitchFamily="34" charset="-122"/>
                <a:cs typeface="Arial" pitchFamily="34" charset="-120"/>
              </a:rPr>
              <a:t>5-Tuple Socket Tracking, Npcap Flow Engine, ARP/mDNS Device Scanner, Registry Watcher.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Presentation Focus: </a:t>
            </a:r>
            <a:pPr indent="0" marL="0">
              <a:spcBef>
                <a:spcPts val="300"/>
              </a:spcBef>
              <a:buNone/>
            </a:pPr>
            <a:r>
              <a:rPr lang="en-US" sz="950" dirty="0">
                <a:solidFill>
                  <a:srgbClr val="1E293B"/>
                </a:solidFill>
                <a:latin typeface="Arial" pitchFamily="34" charset="0"/>
                <a:ea typeface="Arial" pitchFamily="34" charset="-122"/>
                <a:cs typeface="Arial" pitchFamily="34" charset="-120"/>
              </a:rPr>
              <a:t>Network Flow Tracking, Subnet Device Scanner, Persistence Monitor.
</a:t>
            </a:r>
            <a:endParaRPr lang="en-US" sz="950" dirty="0"/>
          </a:p>
        </p:txBody>
      </p:sp>
      <p:sp>
        <p:nvSpPr>
          <p:cNvPr id="19" name="Shape 17"/>
          <p:cNvSpPr/>
          <p:nvPr/>
        </p:nvSpPr>
        <p:spPr>
          <a:xfrm>
            <a:off x="4709160" y="2971800"/>
            <a:ext cx="3977640" cy="1737360"/>
          </a:xfrm>
          <a:prstGeom prst="roundRect">
            <a:avLst>
              <a:gd name="adj" fmla="val 5263"/>
            </a:avLst>
          </a:prstGeom>
          <a:solidFill>
            <a:srgbClr val="FFFFFF"/>
          </a:solidFill>
          <a:ln w="19050">
            <a:solidFill>
              <a:srgbClr val="E2E8F0"/>
            </a:solidFill>
            <a:prstDash val="solid"/>
          </a:ln>
        </p:spPr>
      </p:sp>
      <p:sp>
        <p:nvSpPr>
          <p:cNvPr id="20" name="Shape 18"/>
          <p:cNvSpPr/>
          <p:nvPr/>
        </p:nvSpPr>
        <p:spPr>
          <a:xfrm>
            <a:off x="4709160" y="2971800"/>
            <a:ext cx="3977640" cy="347472"/>
          </a:xfrm>
          <a:prstGeom prst="rect">
            <a:avLst/>
          </a:prstGeom>
          <a:solidFill>
            <a:srgbClr val="F8FAFC"/>
          </a:solidFill>
          <a:ln w="12700">
            <a:solidFill>
              <a:srgbClr val="E2E8F0"/>
            </a:solidFill>
            <a:prstDash val="solid"/>
          </a:ln>
        </p:spPr>
      </p:sp>
      <p:sp>
        <p:nvSpPr>
          <p:cNvPr id="21" name="Text 19"/>
          <p:cNvSpPr/>
          <p:nvPr/>
        </p:nvSpPr>
        <p:spPr>
          <a:xfrm>
            <a:off x="4846320" y="300837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Ananya Kaushik — Frontend Architect &amp; Compliance Lead</a:t>
            </a:r>
            <a:endParaRPr lang="en-US" sz="1150" dirty="0"/>
          </a:p>
        </p:txBody>
      </p:sp>
      <p:sp>
        <p:nvSpPr>
          <p:cNvPr id="22" name="Text 20"/>
          <p:cNvSpPr/>
          <p:nvPr/>
        </p:nvSpPr>
        <p:spPr>
          <a:xfrm>
            <a:off x="4846320" y="3355848"/>
            <a:ext cx="3703320" cy="129844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Technical Scope: </a:t>
            </a:r>
            <a:pPr indent="0" marL="0">
              <a:spcBef>
                <a:spcPts val="300"/>
              </a:spcBef>
              <a:buNone/>
            </a:pPr>
            <a:r>
              <a:rPr lang="en-US" sz="950" dirty="0">
                <a:solidFill>
                  <a:srgbClr val="1E293B"/>
                </a:solidFill>
                <a:latin typeface="Arial" pitchFamily="34" charset="0"/>
                <a:ea typeface="Arial" pitchFamily="34" charset="-122"/>
                <a:cs typeface="Arial" pitchFamily="34" charset="-120"/>
              </a:rPr>
              <a:t>Glassmorphic React Console, MITRE ATT&amp;CK Matrix, NIST SP 800-61 Rev. 2 Exporter.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Presentation Focus: </a:t>
            </a:r>
            <a:pPr indent="0" marL="0">
              <a:spcBef>
                <a:spcPts val="300"/>
              </a:spcBef>
              <a:buNone/>
            </a:pPr>
            <a:r>
              <a:rPr lang="en-US" sz="950" dirty="0">
                <a:solidFill>
                  <a:srgbClr val="1E293B"/>
                </a:solidFill>
                <a:latin typeface="Arial" pitchFamily="34" charset="0"/>
                <a:ea typeface="Arial" pitchFamily="34" charset="-122"/>
                <a:cs typeface="Arial" pitchFamily="34" charset="-120"/>
              </a:rPr>
              <a:t>MITRE Alert Triage, NIST Forensic Exporter, UI Console Demonstration.
</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High-Level System Architecture</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Low-Overhead Native Rust Core with Embedded ONNX Inference</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Divij Kulkarni</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2560320" cy="3657600"/>
          </a:xfrm>
          <a:prstGeom prst="roundRect">
            <a:avLst>
              <a:gd name="adj" fmla="val 3571"/>
            </a:avLst>
          </a:prstGeom>
          <a:solidFill>
            <a:srgbClr val="FFFFFF"/>
          </a:solidFill>
          <a:ln w="19050">
            <a:solidFill>
              <a:srgbClr val="E2E8F0"/>
            </a:solidFill>
            <a:prstDash val="solid"/>
          </a:ln>
        </p:spPr>
      </p:sp>
      <p:sp>
        <p:nvSpPr>
          <p:cNvPr id="8" name="Shape 6"/>
          <p:cNvSpPr/>
          <p:nvPr/>
        </p:nvSpPr>
        <p:spPr>
          <a:xfrm>
            <a:off x="457200" y="1097280"/>
            <a:ext cx="2560320" cy="347472"/>
          </a:xfrm>
          <a:prstGeom prst="rect">
            <a:avLst/>
          </a:prstGeom>
          <a:solidFill>
            <a:srgbClr val="F8FAFC"/>
          </a:solidFill>
          <a:ln w="12700">
            <a:solidFill>
              <a:srgbClr val="E2E8F0"/>
            </a:solidFill>
            <a:prstDash val="solid"/>
          </a:ln>
        </p:spPr>
      </p:sp>
      <p:sp>
        <p:nvSpPr>
          <p:cNvPr id="9" name="Text 7"/>
          <p:cNvSpPr/>
          <p:nvPr/>
        </p:nvSpPr>
        <p:spPr>
          <a:xfrm>
            <a:off x="594360" y="1133856"/>
            <a:ext cx="228600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Desktop Shell &amp; UI</a:t>
            </a:r>
            <a:endParaRPr lang="en-US" sz="1150" dirty="0"/>
          </a:p>
        </p:txBody>
      </p:sp>
      <p:sp>
        <p:nvSpPr>
          <p:cNvPr id="10" name="Text 8"/>
          <p:cNvSpPr/>
          <p:nvPr/>
        </p:nvSpPr>
        <p:spPr>
          <a:xfrm>
            <a:off x="594360" y="1481328"/>
            <a:ext cx="228600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Tauri v2 + React 18: </a:t>
            </a:r>
            <a:pPr indent="0" marL="0">
              <a:spcBef>
                <a:spcPts val="300"/>
              </a:spcBef>
              <a:buNone/>
            </a:pPr>
            <a:r>
              <a:rPr lang="en-US" sz="950" dirty="0">
                <a:solidFill>
                  <a:srgbClr val="1E293B"/>
                </a:solidFill>
                <a:latin typeface="Arial" pitchFamily="34" charset="0"/>
                <a:ea typeface="Arial" pitchFamily="34" charset="-122"/>
                <a:cs typeface="Arial" pitchFamily="34" charset="-120"/>
              </a:rPr>
              <a:t>Component-driven responsive interface using native system webview.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Low Memory Footprint: </a:t>
            </a:r>
            <a:pPr indent="0" marL="0">
              <a:spcBef>
                <a:spcPts val="300"/>
              </a:spcBef>
              <a:buNone/>
            </a:pPr>
            <a:r>
              <a:rPr lang="en-US" sz="950" dirty="0">
                <a:solidFill>
                  <a:srgbClr val="1E293B"/>
                </a:solidFill>
                <a:latin typeface="Arial" pitchFamily="34" charset="0"/>
                <a:ea typeface="Arial" pitchFamily="34" charset="-122"/>
                <a:cs typeface="Arial" pitchFamily="34" charset="-120"/>
              </a:rPr>
              <a:t>Consumes ~42 MB idle RAM vs. 200MB+ for Chromium/Electron apps.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TypeScript IPC: </a:t>
            </a:r>
            <a:pPr indent="0" marL="0">
              <a:spcBef>
                <a:spcPts val="300"/>
              </a:spcBef>
              <a:buNone/>
            </a:pPr>
            <a:r>
              <a:rPr lang="en-US" sz="950" dirty="0">
                <a:solidFill>
                  <a:srgbClr val="1E293B"/>
                </a:solidFill>
                <a:latin typeface="Arial" pitchFamily="34" charset="0"/>
                <a:ea typeface="Arial" pitchFamily="34" charset="-122"/>
                <a:cs typeface="Arial" pitchFamily="34" charset="-120"/>
              </a:rPr>
              <a:t>Asynchronous, type-safe command invocation to native Rust backend threads.
</a:t>
            </a:r>
            <a:endParaRPr lang="en-US" sz="950" dirty="0"/>
          </a:p>
        </p:txBody>
      </p:sp>
      <p:sp>
        <p:nvSpPr>
          <p:cNvPr id="11" name="Shape 9"/>
          <p:cNvSpPr/>
          <p:nvPr/>
        </p:nvSpPr>
        <p:spPr>
          <a:xfrm>
            <a:off x="3291840" y="1097280"/>
            <a:ext cx="2560320" cy="3657600"/>
          </a:xfrm>
          <a:prstGeom prst="roundRect">
            <a:avLst>
              <a:gd name="adj" fmla="val 3571"/>
            </a:avLst>
          </a:prstGeom>
          <a:solidFill>
            <a:srgbClr val="FFFFFF"/>
          </a:solidFill>
          <a:ln w="19050">
            <a:solidFill>
              <a:srgbClr val="0284C7"/>
            </a:solidFill>
            <a:prstDash val="solid"/>
          </a:ln>
        </p:spPr>
      </p:sp>
      <p:sp>
        <p:nvSpPr>
          <p:cNvPr id="12" name="Shape 10"/>
          <p:cNvSpPr/>
          <p:nvPr/>
        </p:nvSpPr>
        <p:spPr>
          <a:xfrm>
            <a:off x="3291840" y="1097280"/>
            <a:ext cx="2560320" cy="347472"/>
          </a:xfrm>
          <a:prstGeom prst="rect">
            <a:avLst/>
          </a:prstGeom>
          <a:solidFill>
            <a:srgbClr val="F8FAFC"/>
          </a:solidFill>
          <a:ln w="12700">
            <a:solidFill>
              <a:srgbClr val="0284C7"/>
            </a:solidFill>
            <a:prstDash val="solid"/>
          </a:ln>
        </p:spPr>
      </p:sp>
      <p:sp>
        <p:nvSpPr>
          <p:cNvPr id="13" name="Text 11"/>
          <p:cNvSpPr/>
          <p:nvPr/>
        </p:nvSpPr>
        <p:spPr>
          <a:xfrm>
            <a:off x="3429000" y="1133856"/>
            <a:ext cx="228600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Native Rust Core Engine</a:t>
            </a:r>
            <a:endParaRPr lang="en-US" sz="1150" dirty="0"/>
          </a:p>
        </p:txBody>
      </p:sp>
      <p:sp>
        <p:nvSpPr>
          <p:cNvPr id="14" name="Text 12"/>
          <p:cNvSpPr/>
          <p:nvPr/>
        </p:nvSpPr>
        <p:spPr>
          <a:xfrm>
            <a:off x="3429000" y="1481328"/>
            <a:ext cx="228600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ETW Telemetry Probing: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Subscribes to Microsoft-Windows-Kernel-Process provider for process lifecycle events.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Win32 System Hooks: </a:t>
            </a:r>
            <a:pPr indent="0" marL="0">
              <a:spcBef>
                <a:spcPts val="300"/>
              </a:spcBef>
              <a:buNone/>
            </a:pPr>
            <a:r>
              <a:rPr lang="en-US" sz="950" dirty="0">
                <a:solidFill>
                  <a:srgbClr val="1E293B"/>
                </a:solidFill>
                <a:latin typeface="Arial" pitchFamily="34" charset="0"/>
                <a:ea typeface="Arial" pitchFamily="34" charset="-122"/>
                <a:cs typeface="Arial" pitchFamily="34" charset="-120"/>
              </a:rPr>
              <a:t>Direct query of process trees, SHA-256 binary hashes, and digital signatures.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Embedded SQLite DB: </a:t>
            </a:r>
            <a:pPr indent="0" marL="0">
              <a:spcBef>
                <a:spcPts val="300"/>
              </a:spcBef>
              <a:buNone/>
            </a:pPr>
            <a:r>
              <a:rPr lang="en-US" sz="950" dirty="0">
                <a:solidFill>
                  <a:srgbClr val="1E293B"/>
                </a:solidFill>
                <a:latin typeface="Arial" pitchFamily="34" charset="0"/>
                <a:ea typeface="Arial" pitchFamily="34" charset="-122"/>
                <a:cs typeface="Arial" pitchFamily="34" charset="-120"/>
              </a:rPr>
              <a:t>Zero-admin local storage managing 14 normalized telemetry tables.
</a:t>
            </a:r>
            <a:endParaRPr lang="en-US" sz="950" dirty="0"/>
          </a:p>
        </p:txBody>
      </p:sp>
      <p:sp>
        <p:nvSpPr>
          <p:cNvPr id="15" name="Shape 13"/>
          <p:cNvSpPr/>
          <p:nvPr/>
        </p:nvSpPr>
        <p:spPr>
          <a:xfrm>
            <a:off x="6126480" y="1097280"/>
            <a:ext cx="2560320" cy="3657600"/>
          </a:xfrm>
          <a:prstGeom prst="roundRect">
            <a:avLst>
              <a:gd name="adj" fmla="val 3571"/>
            </a:avLst>
          </a:prstGeom>
          <a:solidFill>
            <a:srgbClr val="FFFFFF"/>
          </a:solidFill>
          <a:ln w="19050">
            <a:solidFill>
              <a:srgbClr val="E2E8F0"/>
            </a:solidFill>
            <a:prstDash val="solid"/>
          </a:ln>
        </p:spPr>
      </p:sp>
      <p:sp>
        <p:nvSpPr>
          <p:cNvPr id="16" name="Shape 14"/>
          <p:cNvSpPr/>
          <p:nvPr/>
        </p:nvSpPr>
        <p:spPr>
          <a:xfrm>
            <a:off x="6126480" y="1097280"/>
            <a:ext cx="2560320" cy="347472"/>
          </a:xfrm>
          <a:prstGeom prst="rect">
            <a:avLst/>
          </a:prstGeom>
          <a:solidFill>
            <a:srgbClr val="F8FAFC"/>
          </a:solidFill>
          <a:ln w="12700">
            <a:solidFill>
              <a:srgbClr val="E2E8F0"/>
            </a:solidFill>
            <a:prstDash val="solid"/>
          </a:ln>
        </p:spPr>
      </p:sp>
      <p:sp>
        <p:nvSpPr>
          <p:cNvPr id="17" name="Text 15"/>
          <p:cNvSpPr/>
          <p:nvPr/>
        </p:nvSpPr>
        <p:spPr>
          <a:xfrm>
            <a:off x="6263640" y="1133856"/>
            <a:ext cx="228600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Machine Learning &amp; Storage</a:t>
            </a:r>
            <a:endParaRPr lang="en-US" sz="1150" dirty="0"/>
          </a:p>
        </p:txBody>
      </p:sp>
      <p:sp>
        <p:nvSpPr>
          <p:cNvPr id="18" name="Text 16"/>
          <p:cNvSpPr/>
          <p:nvPr/>
        </p:nvSpPr>
        <p:spPr>
          <a:xfrm>
            <a:off x="6263640" y="1481328"/>
            <a:ext cx="228600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Embedded ONNX Engine: </a:t>
            </a:r>
            <a:pPr indent="0" marL="0">
              <a:spcBef>
                <a:spcPts val="300"/>
              </a:spcBef>
              <a:buNone/>
            </a:pPr>
            <a:r>
              <a:rPr lang="en-US" sz="950" dirty="0">
                <a:solidFill>
                  <a:srgbClr val="1E293B"/>
                </a:solidFill>
                <a:latin typeface="Arial" pitchFamily="34" charset="0"/>
                <a:ea typeface="Arial" pitchFamily="34" charset="-122"/>
                <a:cs typeface="Arial" pitchFamily="34" charset="-120"/>
              </a:rPr>
              <a:t>Evaluates Python-trained Random Forest/XGBoost models via ONNX C++ Runtime.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Zero Cloud Dependencies: </a:t>
            </a:r>
            <a:pPr indent="0" marL="0">
              <a:spcBef>
                <a:spcPts val="300"/>
              </a:spcBef>
              <a:buNone/>
            </a:pPr>
            <a:r>
              <a:rPr lang="en-US" sz="950" dirty="0">
                <a:solidFill>
                  <a:srgbClr val="1E293B"/>
                </a:solidFill>
                <a:latin typeface="Arial" pitchFamily="34" charset="0"/>
                <a:ea typeface="Arial" pitchFamily="34" charset="-122"/>
                <a:cs typeface="Arial" pitchFamily="34" charset="-120"/>
              </a:rPr>
              <a:t>Inference runs completely offline without sending telemetry over external networks.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Threat Intel Cache: </a:t>
            </a:r>
            <a:pPr indent="0" marL="0">
              <a:spcBef>
                <a:spcPts val="300"/>
              </a:spcBef>
              <a:buNone/>
            </a:pPr>
            <a:r>
              <a:rPr lang="en-US" sz="950" dirty="0">
                <a:solidFill>
                  <a:srgbClr val="1E293B"/>
                </a:solidFill>
                <a:latin typeface="Arial" pitchFamily="34" charset="0"/>
                <a:ea typeface="Arial" pitchFamily="34" charset="-122"/>
                <a:cs typeface="Arial" pitchFamily="34" charset="-120"/>
              </a:rPr>
              <a:t>Local cache of public IOC hash lists (abuse.ch, URLhaus).
</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Module 1: Real-Time Process &amp; Behavior Engine</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Continuous Host Telemetry &amp; Heuristic Integrity Probing</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Divij Kulkarni</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3657600"/>
          </a:xfrm>
          <a:prstGeom prst="roundRect">
            <a:avLst>
              <a:gd name="adj" fmla="val 2500"/>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Continuous Telemetry Collection</a:t>
            </a:r>
            <a:endParaRPr lang="en-US" sz="1150" dirty="0"/>
          </a:p>
        </p:txBody>
      </p:sp>
      <p:sp>
        <p:nvSpPr>
          <p:cNvPr id="10" name="Text 8"/>
          <p:cNvSpPr/>
          <p:nvPr/>
        </p:nvSpPr>
        <p:spPr>
          <a:xfrm>
            <a:off x="59436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Process Tree Enumeration: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Tracks active processes, parent-child PID relationships, and thread counts.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Resource Profiling: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Monitors CPU usage ratios and RAM memory footprint at 2-second intervals.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SHA-256 Image Hashing: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Automated cryptographic hashing of binary images upon execution.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Digital Signature Audit: </a:t>
            </a:r>
            <a:pPr indent="0" marL="0">
              <a:spcBef>
                <a:spcPts val="300"/>
              </a:spcBef>
              <a:buNone/>
            </a:pPr>
            <a:r>
              <a:rPr lang="en-US" sz="950" dirty="0">
                <a:solidFill>
                  <a:srgbClr val="1E293B"/>
                </a:solidFill>
                <a:latin typeface="Arial" pitchFamily="34" charset="0"/>
                <a:ea typeface="Arial" pitchFamily="34" charset="-122"/>
                <a:cs typeface="Arial" pitchFamily="34" charset="-120"/>
              </a:rPr>
              <a:t>Queries Authenticode signatures to identify unsigned or self-signed binaries.
</a:t>
            </a:r>
            <a:endParaRPr lang="en-US" sz="950" dirty="0"/>
          </a:p>
        </p:txBody>
      </p:sp>
      <p:sp>
        <p:nvSpPr>
          <p:cNvPr id="11" name="Shape 9"/>
          <p:cNvSpPr/>
          <p:nvPr/>
        </p:nvSpPr>
        <p:spPr>
          <a:xfrm>
            <a:off x="4709160" y="1097280"/>
            <a:ext cx="3977640" cy="3657600"/>
          </a:xfrm>
          <a:prstGeom prst="roundRect">
            <a:avLst>
              <a:gd name="adj" fmla="val 2500"/>
            </a:avLst>
          </a:prstGeom>
          <a:solidFill>
            <a:srgbClr val="FFFFFF"/>
          </a:solidFill>
          <a:ln w="19050">
            <a:solidFill>
              <a:srgbClr val="0284C7"/>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0284C7"/>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Behavioral Heuristic Rules</a:t>
            </a:r>
            <a:endParaRPr lang="en-US" sz="1150" dirty="0"/>
          </a:p>
        </p:txBody>
      </p:sp>
      <p:sp>
        <p:nvSpPr>
          <p:cNvPr id="14" name="Text 12"/>
          <p:cNvSpPr/>
          <p:nvPr/>
        </p:nvSpPr>
        <p:spPr>
          <a:xfrm>
            <a:off x="484632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Unquoted Service Paths: </a:t>
            </a:r>
            <a:pPr indent="0" marL="0">
              <a:spcBef>
                <a:spcPts val="300"/>
              </a:spcBef>
              <a:buNone/>
            </a:pPr>
            <a:r>
              <a:rPr lang="en-US" sz="950" dirty="0">
                <a:solidFill>
                  <a:srgbClr val="1E293B"/>
                </a:solidFill>
                <a:latin typeface="Arial" pitchFamily="34" charset="0"/>
                <a:ea typeface="Arial" pitchFamily="34" charset="-122"/>
                <a:cs typeface="Arial" pitchFamily="34" charset="-120"/>
              </a:rPr>
              <a:t>Flags service paths vulnerable to binary hijacking and privilege escalation.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Temp Directory Execution: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Scrutinizes executables launched from AppData\Local\Temp or Downloads.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Command Line Flags: </a:t>
            </a:r>
            <a:pPr indent="0" marL="0">
              <a:spcBef>
                <a:spcPts val="300"/>
              </a:spcBef>
              <a:buNone/>
            </a:pPr>
            <a:r>
              <a:rPr lang="en-US" sz="950" dirty="0">
                <a:solidFill>
                  <a:srgbClr val="1E293B"/>
                </a:solidFill>
                <a:latin typeface="Arial" pitchFamily="34" charset="0"/>
                <a:ea typeface="Arial" pitchFamily="34" charset="-122"/>
                <a:cs typeface="Arial" pitchFamily="34" charset="-120"/>
              </a:rPr>
              <a:t>Detects obfuscated PowerShell parameters (-enc, -nop, -w hidden).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Parent-Child Anomalies: </a:t>
            </a:r>
            <a:pPr indent="0" marL="0">
              <a:spcBef>
                <a:spcPts val="300"/>
              </a:spcBef>
              <a:buNone/>
            </a:pPr>
            <a:r>
              <a:rPr lang="en-US" sz="950" dirty="0">
                <a:solidFill>
                  <a:srgbClr val="1E293B"/>
                </a:solidFill>
                <a:latin typeface="Arial" pitchFamily="34" charset="0"/>
                <a:ea typeface="Arial" pitchFamily="34" charset="-122"/>
                <a:cs typeface="Arial" pitchFamily="34" charset="-120"/>
              </a:rPr>
              <a:t>Flags irregular spawns (e.g. cmd.exe or powershell.exe spawned by excel.exe).
</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Module 2: Embedded ONNX AI Threat Classifier</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Local Inference for Zero-Day Behavior Classification</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Tanmay Gawali</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3657600"/>
          </a:xfrm>
          <a:prstGeom prst="roundRect">
            <a:avLst>
              <a:gd name="adj" fmla="val 2500"/>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Model Training &amp; Architecture</a:t>
            </a:r>
            <a:endParaRPr lang="en-US" sz="1150" dirty="0"/>
          </a:p>
        </p:txBody>
      </p:sp>
      <p:sp>
        <p:nvSpPr>
          <p:cNvPr id="10" name="Text 8"/>
          <p:cNvSpPr/>
          <p:nvPr/>
        </p:nvSpPr>
        <p:spPr>
          <a:xfrm>
            <a:off x="59436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Supervised Ensemble: </a:t>
            </a:r>
            <a:pPr indent="0" marL="0">
              <a:spcBef>
                <a:spcPts val="300"/>
              </a:spcBef>
              <a:buNone/>
            </a:pPr>
            <a:r>
              <a:rPr lang="en-US" sz="950" dirty="0">
                <a:solidFill>
                  <a:srgbClr val="1E293B"/>
                </a:solidFill>
                <a:latin typeface="Arial" pitchFamily="34" charset="0"/>
                <a:ea typeface="Arial" pitchFamily="34" charset="-122"/>
                <a:cs typeface="Arial" pitchFamily="34" charset="-120"/>
              </a:rPr>
              <a:t>Random Forest and XGBoost classifiers trained on 15+ behavioral feature vectors.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ONNX Compilation: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Model exported to Open Neural Network Exchange format for native C++ execution.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15 Feature Vectors: </a:t>
            </a:r>
            <a:pPr indent="0" marL="0">
              <a:spcBef>
                <a:spcPts val="300"/>
              </a:spcBef>
              <a:buNone/>
            </a:pPr>
            <a:r>
              <a:rPr lang="en-US" sz="950" dirty="0">
                <a:solidFill>
                  <a:srgbClr val="1E293B"/>
                </a:solidFill>
                <a:latin typeface="Arial" pitchFamily="34" charset="0"/>
                <a:ea typeface="Arial" pitchFamily="34" charset="-122"/>
                <a:cs typeface="Arial" pitchFamily="34" charset="-120"/>
              </a:rPr>
              <a:t>Includes CPU/RAM growth rate, parent-child ratio, outbound socket count, and digital signature status.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Zero Cloud Latency: </a:t>
            </a:r>
            <a:pPr indent="0" marL="0">
              <a:spcBef>
                <a:spcPts val="300"/>
              </a:spcBef>
              <a:buNone/>
            </a:pPr>
            <a:r>
              <a:rPr lang="en-US" sz="950" dirty="0">
                <a:solidFill>
                  <a:srgbClr val="1E293B"/>
                </a:solidFill>
                <a:latin typeface="Arial" pitchFamily="34" charset="0"/>
                <a:ea typeface="Arial" pitchFamily="34" charset="-122"/>
                <a:cs typeface="Arial" pitchFamily="34" charset="-120"/>
              </a:rPr>
              <a:t>Runs inference locally inside the Rust binary without embedding Python interpreters.
</a:t>
            </a:r>
            <a:endParaRPr lang="en-US" sz="950" dirty="0"/>
          </a:p>
        </p:txBody>
      </p:sp>
      <p:sp>
        <p:nvSpPr>
          <p:cNvPr id="11" name="Shape 9"/>
          <p:cNvSpPr/>
          <p:nvPr/>
        </p:nvSpPr>
        <p:spPr>
          <a:xfrm>
            <a:off x="4709160" y="1097280"/>
            <a:ext cx="3977640" cy="3657600"/>
          </a:xfrm>
          <a:prstGeom prst="roundRect">
            <a:avLst>
              <a:gd name="adj" fmla="val 2500"/>
            </a:avLst>
          </a:prstGeom>
          <a:solidFill>
            <a:srgbClr val="FFFFFF"/>
          </a:solidFill>
          <a:ln w="19050">
            <a:solidFill>
              <a:srgbClr val="7C3AED"/>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7C3AED"/>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Empirical Performance &amp; Explainability</a:t>
            </a:r>
            <a:endParaRPr lang="en-US" sz="1150" dirty="0"/>
          </a:p>
        </p:txBody>
      </p:sp>
      <p:sp>
        <p:nvSpPr>
          <p:cNvPr id="14" name="Text 12"/>
          <p:cNvSpPr/>
          <p:nvPr/>
        </p:nvSpPr>
        <p:spPr>
          <a:xfrm>
            <a:off x="484632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98.4% Accuracy: </a:t>
            </a:r>
            <a:pPr indent="0" marL="0">
              <a:spcBef>
                <a:spcPts val="300"/>
              </a:spcBef>
              <a:buNone/>
            </a:pPr>
            <a:r>
              <a:rPr lang="en-US" sz="950" dirty="0">
                <a:solidFill>
                  <a:srgbClr val="1E293B"/>
                </a:solidFill>
                <a:latin typeface="Arial" pitchFamily="34" charset="0"/>
                <a:ea typeface="Arial" pitchFamily="34" charset="-122"/>
                <a:cs typeface="Arial" pitchFamily="34" charset="-120"/>
              </a:rPr>
              <a:t>Evaluated against public EMBER malware benchmark datasets and benign baselines.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&lt; 2.4 ms Latency: </a:t>
            </a:r>
            <a:pPr indent="0" marL="0">
              <a:spcBef>
                <a:spcPts val="300"/>
              </a:spcBef>
              <a:buNone/>
            </a:pPr>
            <a:r>
              <a:rPr lang="en-US" sz="950" dirty="0">
                <a:solidFill>
                  <a:srgbClr val="1E293B"/>
                </a:solidFill>
                <a:latin typeface="Arial" pitchFamily="34" charset="0"/>
                <a:ea typeface="Arial" pitchFamily="34" charset="-122"/>
                <a:cs typeface="Arial" pitchFamily="34" charset="-120"/>
              </a:rPr>
              <a:t>Sub-millisecond inference speed ensures process threat classification happens in near-real-time.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Explainable Risk Scoring: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Outputs a 0–100 risk score and lists feature importance weights for every alert.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Fixed Taxonomy: </a:t>
            </a:r>
            <a:pPr indent="0" marL="0">
              <a:spcBef>
                <a:spcPts val="300"/>
              </a:spcBef>
              <a:buNone/>
            </a:pPr>
            <a:r>
              <a:rPr lang="en-US" sz="950" dirty="0">
                <a:solidFill>
                  <a:srgbClr val="1E293B"/>
                </a:solidFill>
                <a:latin typeface="Arial" pitchFamily="34" charset="0"/>
                <a:ea typeface="Arial" pitchFamily="34" charset="-122"/>
                <a:cs typeface="Arial" pitchFamily="34" charset="-120"/>
              </a:rPr>
              <a:t>Classifies threats into Trojan, Ransomware-like, PUA, or Suspicious categories.
</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Module 3: Network Flow Monitor &amp; Subnet Scanner</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5-Tuple Socket Correlation &amp; Local Subnet Device Discovery</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Soham Wadale</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3657600"/>
          </a:xfrm>
          <a:prstGeom prst="roundRect">
            <a:avLst>
              <a:gd name="adj" fmla="val 2500"/>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Network Flow Correlation</a:t>
            </a:r>
            <a:endParaRPr lang="en-US" sz="1150" dirty="0"/>
          </a:p>
        </p:txBody>
      </p:sp>
      <p:sp>
        <p:nvSpPr>
          <p:cNvPr id="10" name="Text 8"/>
          <p:cNvSpPr/>
          <p:nvPr/>
        </p:nvSpPr>
        <p:spPr>
          <a:xfrm>
            <a:off x="59436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5-Tuple Flow Tracking: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Captures Source IP/Port, Destination IP/Port, and Protocol statistics.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Process-to-Socket Mapping: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Correlates active network sockets directly to local PIDs via GetExtendedTcpTable.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Privacy Guarantee: </a:t>
            </a:r>
            <a:pPr indent="0" marL="0">
              <a:spcBef>
                <a:spcPts val="300"/>
              </a:spcBef>
              <a:buNone/>
            </a:pPr>
            <a:r>
              <a:rPr lang="en-US" sz="950" dirty="0">
                <a:solidFill>
                  <a:srgbClr val="1E293B"/>
                </a:solidFill>
                <a:latin typeface="Arial" pitchFamily="34" charset="0"/>
                <a:ea typeface="Arial" pitchFamily="34" charset="-122"/>
                <a:cs typeface="Arial" pitchFamily="34" charset="-120"/>
              </a:rPr>
              <a:t>Zero TLS payload decryption; inspects SNI server names and flow metadata only.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Local Firewall Blocking: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Allows instant creation of Windows Filtering Platform (WFP) blocking rules for malicious IPs.
</a:t>
            </a:r>
            <a:endParaRPr lang="en-US" sz="950" dirty="0"/>
          </a:p>
        </p:txBody>
      </p:sp>
      <p:sp>
        <p:nvSpPr>
          <p:cNvPr id="11" name="Shape 9"/>
          <p:cNvSpPr/>
          <p:nvPr/>
        </p:nvSpPr>
        <p:spPr>
          <a:xfrm>
            <a:off x="4709160" y="1097280"/>
            <a:ext cx="3977640" cy="3657600"/>
          </a:xfrm>
          <a:prstGeom prst="roundRect">
            <a:avLst>
              <a:gd name="adj" fmla="val 2500"/>
            </a:avLst>
          </a:prstGeom>
          <a:solidFill>
            <a:srgbClr val="FFFFFF"/>
          </a:solidFill>
          <a:ln w="19050">
            <a:solidFill>
              <a:srgbClr val="0284C7"/>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0284C7"/>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Subnet Device Discovery</a:t>
            </a:r>
            <a:endParaRPr lang="en-US" sz="1150" dirty="0"/>
          </a:p>
        </p:txBody>
      </p:sp>
      <p:sp>
        <p:nvSpPr>
          <p:cNvPr id="14" name="Text 12"/>
          <p:cNvSpPr/>
          <p:nvPr/>
        </p:nvSpPr>
        <p:spPr>
          <a:xfrm>
            <a:off x="484632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Dual Probing Protocol: </a:t>
            </a:r>
            <a:pPr indent="0" marL="0">
              <a:spcBef>
                <a:spcPts val="300"/>
              </a:spcBef>
              <a:buNone/>
            </a:pPr>
            <a:r>
              <a:rPr lang="en-US" sz="950" dirty="0">
                <a:solidFill>
                  <a:srgbClr val="1E293B"/>
                </a:solidFill>
                <a:latin typeface="Arial" pitchFamily="34" charset="0"/>
                <a:ea typeface="Arial" pitchFamily="34" charset="-122"/>
                <a:cs typeface="Arial" pitchFamily="34" charset="-120"/>
              </a:rPr>
              <a:t>Uses ARP sweeps and mDNS/SSDP broadcast listening to discover active subnet hosts.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Device Fingerprinting: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Resolves local hostnames, IP histories, and IEEE OUI MAC vendor tags.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MAC Spoof Detection: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Identifies MAC address randomization and suspicious MAC duplication.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Port Scan Heuristics: </a:t>
            </a:r>
            <a:pPr indent="0" marL="0">
              <a:spcBef>
                <a:spcPts val="300"/>
              </a:spcBef>
              <a:buNone/>
            </a:pPr>
            <a:r>
              <a:rPr lang="en-US" sz="950" dirty="0">
                <a:solidFill>
                  <a:srgbClr val="1E293B"/>
                </a:solidFill>
                <a:latin typeface="Arial" pitchFamily="34" charset="0"/>
                <a:ea typeface="Arial" pitchFamily="34" charset="-122"/>
                <a:cs typeface="Arial" pitchFamily="34" charset="-120"/>
              </a:rPr>
              <a:t>Flags newly connected devices attempting rapid sequential port probes.
</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Module 4: Windows Registry &amp; Persistence Inspector</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Defending Against System Startup &amp; Boot Autostart Hijacking</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Soham Wadale</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3657600"/>
          </a:xfrm>
          <a:prstGeom prst="roundRect">
            <a:avLst>
              <a:gd name="adj" fmla="val 2500"/>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Windows Registry Inspection</a:t>
            </a:r>
            <a:endParaRPr lang="en-US" sz="1150" dirty="0"/>
          </a:p>
        </p:txBody>
      </p:sp>
      <p:sp>
        <p:nvSpPr>
          <p:cNvPr id="10" name="Text 8"/>
          <p:cNvSpPr/>
          <p:nvPr/>
        </p:nvSpPr>
        <p:spPr>
          <a:xfrm>
            <a:off x="59436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Run &amp; RunOnce Keys: </a:t>
            </a:r>
            <a:pPr indent="0" marL="0">
              <a:spcBef>
                <a:spcPts val="300"/>
              </a:spcBef>
              <a:buNone/>
            </a:pPr>
            <a:r>
              <a:rPr lang="en-US" sz="950" dirty="0">
                <a:solidFill>
                  <a:srgbClr val="1E293B"/>
                </a:solidFill>
                <a:latin typeface="Arial" pitchFamily="34" charset="0"/>
                <a:ea typeface="Arial" pitchFamily="34" charset="-122"/>
                <a:cs typeface="Arial" pitchFamily="34" charset="-120"/>
              </a:rPr>
              <a:t>Scans HKCU and HKLM Software\Microsoft\Windows\CurrentVersion\Run keys.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Windows Services: </a:t>
            </a:r>
            <a:pPr indent="0" marL="0">
              <a:spcBef>
                <a:spcPts val="300"/>
              </a:spcBef>
              <a:buNone/>
            </a:pPr>
            <a:r>
              <a:rPr lang="en-US" sz="950" dirty="0">
                <a:solidFill>
                  <a:srgbClr val="1E293B"/>
                </a:solidFill>
                <a:latin typeface="Arial" pitchFamily="34" charset="0"/>
                <a:ea typeface="Arial" pitchFamily="34" charset="-122"/>
                <a:cs typeface="Arial" pitchFamily="34" charset="-120"/>
              </a:rPr>
              <a:t>Monitors creation and modification of background system service configurations.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Scheduled Tasks: </a:t>
            </a:r>
            <a:pPr indent="0" marL="0">
              <a:spcBef>
                <a:spcPts val="300"/>
              </a:spcBef>
              <a:buNone/>
            </a:pPr>
            <a:r>
              <a:rPr lang="en-US" sz="950" dirty="0">
                <a:solidFill>
                  <a:srgbClr val="1E293B"/>
                </a:solidFill>
                <a:latin typeface="Arial" pitchFamily="34" charset="0"/>
                <a:ea typeface="Arial" pitchFamily="34" charset="-122"/>
                <a:cs typeface="Arial" pitchFamily="34" charset="-120"/>
              </a:rPr>
              <a:t>Audits Windows Task Scheduler entries for obfuscated executable launch flags.
</a:t>
            </a:r>
            <a:endParaRPr lang="en-US" sz="950" dirty="0"/>
          </a:p>
        </p:txBody>
      </p:sp>
      <p:sp>
        <p:nvSpPr>
          <p:cNvPr id="11" name="Shape 9"/>
          <p:cNvSpPr/>
          <p:nvPr/>
        </p:nvSpPr>
        <p:spPr>
          <a:xfrm>
            <a:off x="4709160" y="1097280"/>
            <a:ext cx="3977640" cy="3657600"/>
          </a:xfrm>
          <a:prstGeom prst="roundRect">
            <a:avLst>
              <a:gd name="adj" fmla="val 2500"/>
            </a:avLst>
          </a:prstGeom>
          <a:solidFill>
            <a:srgbClr val="FFFFFF"/>
          </a:solidFill>
          <a:ln w="19050">
            <a:solidFill>
              <a:srgbClr val="0284C7"/>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0284C7"/>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Startup Folder &amp; MITRE Mapping</a:t>
            </a:r>
            <a:endParaRPr lang="en-US" sz="1150" dirty="0"/>
          </a:p>
        </p:txBody>
      </p:sp>
      <p:sp>
        <p:nvSpPr>
          <p:cNvPr id="14" name="Text 12"/>
          <p:cNvSpPr/>
          <p:nvPr/>
        </p:nvSpPr>
        <p:spPr>
          <a:xfrm>
            <a:off x="484632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Startup Folder Watching: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Tracks added shortcut (.lnk) files and scripts in user autostart directories.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Binary Integrity Check: </a:t>
            </a:r>
            <a:pPr indent="0" marL="0">
              <a:spcBef>
                <a:spcPts val="300"/>
              </a:spcBef>
              <a:buNone/>
            </a:pPr>
            <a:r>
              <a:rPr lang="en-US" sz="950" dirty="0">
                <a:solidFill>
                  <a:srgbClr val="1E293B"/>
                </a:solidFill>
                <a:latin typeface="Arial" pitchFamily="34" charset="0"/>
                <a:ea typeface="Arial" pitchFamily="34" charset="-122"/>
                <a:cs typeface="Arial" pitchFamily="34" charset="-120"/>
              </a:rPr>
              <a:t>Computes SHA-256 checksums of autostart binaries to detect unauthorized tampering.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MITRE ATT&amp;CK T1547: </a:t>
            </a:r>
            <a:pPr indent="0" marL="0">
              <a:spcBef>
                <a:spcPts val="300"/>
              </a:spcBef>
              <a:buNone/>
            </a:pPr>
            <a:r>
              <a:rPr lang="en-US" sz="950" dirty="0">
                <a:solidFill>
                  <a:srgbClr val="1E293B"/>
                </a:solidFill>
                <a:latin typeface="Arial" pitchFamily="34" charset="0"/>
                <a:ea typeface="Arial" pitchFamily="34" charset="-122"/>
                <a:cs typeface="Arial" pitchFamily="34" charset="-120"/>
              </a:rPr>
              <a:t>Tags all persistence modifications with official MITRE technique ID T1547.
</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Module 5: Alert Triage &amp; Incident Compliance</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MITRE ATT&amp;CK Mapping &amp; NIST SP 800-61 Rev. 2 Exporter</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Ananya Kaushik</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3657600"/>
          </a:xfrm>
          <a:prstGeom prst="roundRect">
            <a:avLst>
              <a:gd name="adj" fmla="val 2500"/>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MITRE ATT&amp;CK Alert Matrix</a:t>
            </a:r>
            <a:endParaRPr lang="en-US" sz="1150" dirty="0"/>
          </a:p>
        </p:txBody>
      </p:sp>
      <p:sp>
        <p:nvSpPr>
          <p:cNvPr id="10" name="Text 8"/>
          <p:cNvSpPr/>
          <p:nvPr/>
        </p:nvSpPr>
        <p:spPr>
          <a:xfrm>
            <a:off x="59436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Automated Technique Tagging: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Tags alerts with standard MITRE IDs (T1059 Command Line, T1055 Process Injection).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Severity Classification: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Categorizes threats into Critical, High, Medium, and Informational tiers.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Chronological Timeline: </a:t>
            </a:r>
            <a:pPr indent="0" marL="0">
              <a:spcBef>
                <a:spcPts val="300"/>
              </a:spcBef>
              <a:buNone/>
            </a:pPr>
            <a:r>
              <a:rPr lang="en-US" sz="950" dirty="0">
                <a:solidFill>
                  <a:srgbClr val="1E293B"/>
                </a:solidFill>
                <a:latin typeface="Arial" pitchFamily="34" charset="0"/>
                <a:ea typeface="Arial" pitchFamily="34" charset="-122"/>
                <a:cs typeface="Arial" pitchFamily="34" charset="-120"/>
              </a:rPr>
              <a:t>Displays a unified attack timeline linking process, network, and registry events.
</a:t>
            </a:r>
            <a:endParaRPr lang="en-US" sz="950" dirty="0"/>
          </a:p>
        </p:txBody>
      </p:sp>
      <p:sp>
        <p:nvSpPr>
          <p:cNvPr id="11" name="Shape 9"/>
          <p:cNvSpPr/>
          <p:nvPr/>
        </p:nvSpPr>
        <p:spPr>
          <a:xfrm>
            <a:off x="4709160" y="1097280"/>
            <a:ext cx="3977640" cy="3657600"/>
          </a:xfrm>
          <a:prstGeom prst="roundRect">
            <a:avLst>
              <a:gd name="adj" fmla="val 2500"/>
            </a:avLst>
          </a:prstGeom>
          <a:solidFill>
            <a:srgbClr val="FFFFFF"/>
          </a:solidFill>
          <a:ln w="19050">
            <a:solidFill>
              <a:srgbClr val="059669"/>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059669"/>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NIST SP 800-61 Rev. 2 Exporter</a:t>
            </a:r>
            <a:endParaRPr lang="en-US" sz="1150" dirty="0"/>
          </a:p>
        </p:txBody>
      </p:sp>
      <p:sp>
        <p:nvSpPr>
          <p:cNvPr id="14" name="Text 12"/>
          <p:cNvSpPr/>
          <p:nvPr/>
        </p:nvSpPr>
        <p:spPr>
          <a:xfrm>
            <a:off x="484632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Standardized Forensic Bundles: </a:t>
            </a:r>
            <a:pPr indent="0" marL="0">
              <a:spcBef>
                <a:spcPts val="300"/>
              </a:spcBef>
              <a:buNone/>
            </a:pPr>
            <a:r>
              <a:rPr lang="en-US" sz="950" dirty="0">
                <a:solidFill>
                  <a:srgbClr val="1E293B"/>
                </a:solidFill>
                <a:latin typeface="Arial" pitchFamily="34" charset="0"/>
                <a:ea typeface="Arial" pitchFamily="34" charset="-122"/>
                <a:cs typeface="Arial" pitchFamily="34" charset="-120"/>
              </a:rPr>
              <a:t>Exports structured JSON and Markdown incident packages for SOC analysts.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Lifecycle Alignment: </a:t>
            </a:r>
            <a:pPr indent="0" marL="0">
              <a:spcBef>
                <a:spcPts val="300"/>
              </a:spcBef>
              <a:buNone/>
            </a:pPr>
            <a:r>
              <a:rPr lang="en-US" sz="950" dirty="0">
                <a:solidFill>
                  <a:srgbClr val="1E293B"/>
                </a:solidFill>
                <a:latin typeface="Arial" pitchFamily="34" charset="0"/>
                <a:ea typeface="Arial" pitchFamily="34" charset="-122"/>
                <a:cs typeface="Arial" pitchFamily="34" charset="-120"/>
              </a:rPr>
              <a:t>Follows NIST phases: Preparation → Detection &amp; Analysis → Containment → Post-Incident.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Actionable Remediation: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Includes full hash chains, network sockets, AI confidence scores, and containment steps.
</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UI / UX Architecture &amp; Dashboard Console</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Modern Glassmorphic Interface Built for Security Operations</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Ananya Kaushik</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1737360"/>
          </a:xfrm>
          <a:prstGeom prst="roundRect">
            <a:avLst>
              <a:gd name="adj" fmla="val 5263"/>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Executive Dashboard</a:t>
            </a:r>
            <a:endParaRPr lang="en-US" sz="1150" dirty="0"/>
          </a:p>
        </p:txBody>
      </p:sp>
      <p:sp>
        <p:nvSpPr>
          <p:cNvPr id="10" name="Text 8"/>
          <p:cNvSpPr/>
          <p:nvPr/>
        </p:nvSpPr>
        <p:spPr>
          <a:xfrm>
            <a:off x="594360" y="1481328"/>
            <a:ext cx="3703320" cy="129844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Functionality: </a:t>
            </a:r>
            <a:pPr indent="0" marL="0">
              <a:spcBef>
                <a:spcPts val="300"/>
              </a:spcBef>
              <a:buNone/>
            </a:pPr>
            <a:r>
              <a:rPr lang="en-US" sz="950" dirty="0">
                <a:solidFill>
                  <a:srgbClr val="1E293B"/>
                </a:solidFill>
                <a:latin typeface="Arial" pitchFamily="34" charset="0"/>
                <a:ea typeface="Arial" pitchFamily="34" charset="-122"/>
                <a:cs typeface="Arial" pitchFamily="34" charset="-120"/>
              </a:rPr>
              <a:t>Real-time threat status gauge, active process metrics, network flow volume, and high-level risk overview.
</a:t>
            </a:r>
            <a:endParaRPr lang="en-US" sz="950" dirty="0"/>
          </a:p>
        </p:txBody>
      </p:sp>
      <p:sp>
        <p:nvSpPr>
          <p:cNvPr id="11" name="Shape 9"/>
          <p:cNvSpPr/>
          <p:nvPr/>
        </p:nvSpPr>
        <p:spPr>
          <a:xfrm>
            <a:off x="4709160" y="1097280"/>
            <a:ext cx="3977640" cy="1737360"/>
          </a:xfrm>
          <a:prstGeom prst="roundRect">
            <a:avLst>
              <a:gd name="adj" fmla="val 5263"/>
            </a:avLst>
          </a:prstGeom>
          <a:solidFill>
            <a:srgbClr val="FFFFFF"/>
          </a:solidFill>
          <a:ln w="19050">
            <a:solidFill>
              <a:srgbClr val="E2E8F0"/>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E2E8F0"/>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Process Table</a:t>
            </a:r>
            <a:endParaRPr lang="en-US" sz="1150" dirty="0"/>
          </a:p>
        </p:txBody>
      </p:sp>
      <p:sp>
        <p:nvSpPr>
          <p:cNvPr id="14" name="Text 12"/>
          <p:cNvSpPr/>
          <p:nvPr/>
        </p:nvSpPr>
        <p:spPr>
          <a:xfrm>
            <a:off x="4846320" y="1481328"/>
            <a:ext cx="3703320" cy="129844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Functionality: </a:t>
            </a:r>
            <a:pPr indent="0" marL="0">
              <a:spcBef>
                <a:spcPts val="300"/>
              </a:spcBef>
              <a:buNone/>
            </a:pPr>
            <a:r>
              <a:rPr lang="en-US" sz="950" dirty="0">
                <a:solidFill>
                  <a:srgbClr val="1E293B"/>
                </a:solidFill>
                <a:latin typeface="Arial" pitchFamily="34" charset="0"/>
                <a:ea typeface="Arial" pitchFamily="34" charset="-122"/>
                <a:cs typeface="Arial" pitchFamily="34" charset="-120"/>
              </a:rPr>
              <a:t>Dynamic sorting, search filtering, binary hash inspection modal, and instant process termination controls.
</a:t>
            </a:r>
            <a:endParaRPr lang="en-US" sz="950" dirty="0"/>
          </a:p>
        </p:txBody>
      </p:sp>
      <p:sp>
        <p:nvSpPr>
          <p:cNvPr id="15" name="Shape 13"/>
          <p:cNvSpPr/>
          <p:nvPr/>
        </p:nvSpPr>
        <p:spPr>
          <a:xfrm>
            <a:off x="457200" y="2971800"/>
            <a:ext cx="3977640" cy="1737360"/>
          </a:xfrm>
          <a:prstGeom prst="roundRect">
            <a:avLst>
              <a:gd name="adj" fmla="val 5263"/>
            </a:avLst>
          </a:prstGeom>
          <a:solidFill>
            <a:srgbClr val="FFFFFF"/>
          </a:solidFill>
          <a:ln w="19050">
            <a:solidFill>
              <a:srgbClr val="E2E8F0"/>
            </a:solidFill>
            <a:prstDash val="solid"/>
          </a:ln>
        </p:spPr>
      </p:sp>
      <p:sp>
        <p:nvSpPr>
          <p:cNvPr id="16" name="Shape 14"/>
          <p:cNvSpPr/>
          <p:nvPr/>
        </p:nvSpPr>
        <p:spPr>
          <a:xfrm>
            <a:off x="457200" y="2971800"/>
            <a:ext cx="3977640" cy="347472"/>
          </a:xfrm>
          <a:prstGeom prst="rect">
            <a:avLst/>
          </a:prstGeom>
          <a:solidFill>
            <a:srgbClr val="F8FAFC"/>
          </a:solidFill>
          <a:ln w="12700">
            <a:solidFill>
              <a:srgbClr val="E2E8F0"/>
            </a:solidFill>
            <a:prstDash val="solid"/>
          </a:ln>
        </p:spPr>
      </p:sp>
      <p:sp>
        <p:nvSpPr>
          <p:cNvPr id="17" name="Text 15"/>
          <p:cNvSpPr/>
          <p:nvPr/>
        </p:nvSpPr>
        <p:spPr>
          <a:xfrm>
            <a:off x="594360" y="300837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MITRE Heatmap</a:t>
            </a:r>
            <a:endParaRPr lang="en-US" sz="1150" dirty="0"/>
          </a:p>
        </p:txBody>
      </p:sp>
      <p:sp>
        <p:nvSpPr>
          <p:cNvPr id="18" name="Text 16"/>
          <p:cNvSpPr/>
          <p:nvPr/>
        </p:nvSpPr>
        <p:spPr>
          <a:xfrm>
            <a:off x="594360" y="3355848"/>
            <a:ext cx="3703320" cy="129844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Functionality: </a:t>
            </a:r>
            <a:pPr indent="0" marL="0">
              <a:spcBef>
                <a:spcPts val="300"/>
              </a:spcBef>
              <a:buNone/>
            </a:pPr>
            <a:r>
              <a:rPr lang="en-US" sz="950" dirty="0">
                <a:solidFill>
                  <a:srgbClr val="1E293B"/>
                </a:solidFill>
                <a:latin typeface="Arial" pitchFamily="34" charset="0"/>
                <a:ea typeface="Arial" pitchFamily="34" charset="-122"/>
                <a:cs typeface="Arial" pitchFamily="34" charset="-120"/>
              </a:rPr>
              <a:t>Interactive grid matrix visualizing detected ATT&amp;CK techniques across active system events.
</a:t>
            </a:r>
            <a:endParaRPr lang="en-US" sz="950" dirty="0"/>
          </a:p>
        </p:txBody>
      </p:sp>
      <p:sp>
        <p:nvSpPr>
          <p:cNvPr id="19" name="Shape 17"/>
          <p:cNvSpPr/>
          <p:nvPr/>
        </p:nvSpPr>
        <p:spPr>
          <a:xfrm>
            <a:off x="4709160" y="2971800"/>
            <a:ext cx="3977640" cy="1737360"/>
          </a:xfrm>
          <a:prstGeom prst="roundRect">
            <a:avLst>
              <a:gd name="adj" fmla="val 5263"/>
            </a:avLst>
          </a:prstGeom>
          <a:solidFill>
            <a:srgbClr val="FFFFFF"/>
          </a:solidFill>
          <a:ln w="19050">
            <a:solidFill>
              <a:srgbClr val="E2E8F0"/>
            </a:solidFill>
            <a:prstDash val="solid"/>
          </a:ln>
        </p:spPr>
      </p:sp>
      <p:sp>
        <p:nvSpPr>
          <p:cNvPr id="20" name="Shape 18"/>
          <p:cNvSpPr/>
          <p:nvPr/>
        </p:nvSpPr>
        <p:spPr>
          <a:xfrm>
            <a:off x="4709160" y="2971800"/>
            <a:ext cx="3977640" cy="347472"/>
          </a:xfrm>
          <a:prstGeom prst="rect">
            <a:avLst/>
          </a:prstGeom>
          <a:solidFill>
            <a:srgbClr val="F8FAFC"/>
          </a:solidFill>
          <a:ln w="12700">
            <a:solidFill>
              <a:srgbClr val="E2E8F0"/>
            </a:solidFill>
            <a:prstDash val="solid"/>
          </a:ln>
        </p:spPr>
      </p:sp>
      <p:sp>
        <p:nvSpPr>
          <p:cNvPr id="21" name="Text 19"/>
          <p:cNvSpPr/>
          <p:nvPr/>
        </p:nvSpPr>
        <p:spPr>
          <a:xfrm>
            <a:off x="4846320" y="300837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Incident Exporter</a:t>
            </a:r>
            <a:endParaRPr lang="en-US" sz="1150" dirty="0"/>
          </a:p>
        </p:txBody>
      </p:sp>
      <p:sp>
        <p:nvSpPr>
          <p:cNvPr id="22" name="Text 20"/>
          <p:cNvSpPr/>
          <p:nvPr/>
        </p:nvSpPr>
        <p:spPr>
          <a:xfrm>
            <a:off x="4846320" y="3355848"/>
            <a:ext cx="3703320" cy="129844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Functionality: </a:t>
            </a:r>
            <a:pPr indent="0" marL="0">
              <a:spcBef>
                <a:spcPts val="300"/>
              </a:spcBef>
              <a:buNone/>
            </a:pPr>
            <a:r>
              <a:rPr lang="en-US" sz="950" dirty="0">
                <a:solidFill>
                  <a:srgbClr val="1E293B"/>
                </a:solidFill>
                <a:latin typeface="Arial" pitchFamily="34" charset="0"/>
                <a:ea typeface="Arial" pitchFamily="34" charset="-122"/>
                <a:cs typeface="Arial" pitchFamily="34" charset="-120"/>
              </a:rPr>
              <a:t>One-click generation of NIST SP 800-61 forensic report bundles with custom time filters.
</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Performance Benchmarks &amp; Security Safeguards</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Empirical Measurement of Agent Resource Usage &amp; Operating Controls</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Divij Kulkarni</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2560320" cy="3657600"/>
          </a:xfrm>
          <a:prstGeom prst="roundRect">
            <a:avLst>
              <a:gd name="adj" fmla="val 3571"/>
            </a:avLst>
          </a:prstGeom>
          <a:solidFill>
            <a:srgbClr val="FFFFFF"/>
          </a:solidFill>
          <a:ln w="19050">
            <a:solidFill>
              <a:srgbClr val="E2E8F0"/>
            </a:solidFill>
            <a:prstDash val="solid"/>
          </a:ln>
        </p:spPr>
      </p:sp>
      <p:sp>
        <p:nvSpPr>
          <p:cNvPr id="8" name="Shape 6"/>
          <p:cNvSpPr/>
          <p:nvPr/>
        </p:nvSpPr>
        <p:spPr>
          <a:xfrm>
            <a:off x="457200" y="1097280"/>
            <a:ext cx="2560320" cy="347472"/>
          </a:xfrm>
          <a:prstGeom prst="rect">
            <a:avLst/>
          </a:prstGeom>
          <a:solidFill>
            <a:srgbClr val="F8FAFC"/>
          </a:solidFill>
          <a:ln w="12700">
            <a:solidFill>
              <a:srgbClr val="E2E8F0"/>
            </a:solidFill>
            <a:prstDash val="solid"/>
          </a:ln>
        </p:spPr>
      </p:sp>
      <p:sp>
        <p:nvSpPr>
          <p:cNvPr id="9" name="Text 7"/>
          <p:cNvSpPr/>
          <p:nvPr/>
        </p:nvSpPr>
        <p:spPr>
          <a:xfrm>
            <a:off x="594360" y="1133856"/>
            <a:ext cx="228600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CPU &amp; RAM Overhead</a:t>
            </a:r>
            <a:endParaRPr lang="en-US" sz="1150" dirty="0"/>
          </a:p>
        </p:txBody>
      </p:sp>
      <p:sp>
        <p:nvSpPr>
          <p:cNvPr id="10" name="Text 8"/>
          <p:cNvSpPr/>
          <p:nvPr/>
        </p:nvSpPr>
        <p:spPr>
          <a:xfrm>
            <a:off x="594360" y="1481328"/>
            <a:ext cx="228600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&lt; 1.8% CPU Usage: </a:t>
            </a:r>
            <a:pPr indent="0" marL="0">
              <a:spcBef>
                <a:spcPts val="300"/>
              </a:spcBef>
              <a:buNone/>
            </a:pPr>
            <a:r>
              <a:rPr lang="en-US" sz="950" dirty="0">
                <a:solidFill>
                  <a:srgbClr val="1E293B"/>
                </a:solidFill>
                <a:latin typeface="Arial" pitchFamily="34" charset="0"/>
                <a:ea typeface="Arial" pitchFamily="34" charset="-122"/>
                <a:cs typeface="Arial" pitchFamily="34" charset="-120"/>
              </a:rPr>
              <a:t>Measured under steady-state monitoring (Target was &lt; 5%).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~42 MB RAM Footprint: </a:t>
            </a:r>
            <a:pPr indent="0" marL="0">
              <a:spcBef>
                <a:spcPts val="300"/>
              </a:spcBef>
              <a:buNone/>
            </a:pPr>
            <a:r>
              <a:rPr lang="en-US" sz="950" dirty="0">
                <a:solidFill>
                  <a:srgbClr val="1E293B"/>
                </a:solidFill>
                <a:latin typeface="Arial" pitchFamily="34" charset="0"/>
                <a:ea typeface="Arial" pitchFamily="34" charset="-122"/>
                <a:cs typeface="Arial" pitchFamily="34" charset="-120"/>
              </a:rPr>
              <a:t>70% lower memory usage than Electron-based monitoring agents.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Sub-Second Startup: </a:t>
            </a:r>
            <a:pPr indent="0" marL="0">
              <a:spcBef>
                <a:spcPts val="300"/>
              </a:spcBef>
              <a:buNone/>
            </a:pPr>
            <a:r>
              <a:rPr lang="en-US" sz="950" dirty="0">
                <a:solidFill>
                  <a:srgbClr val="1E293B"/>
                </a:solidFill>
                <a:latin typeface="Arial" pitchFamily="34" charset="0"/>
                <a:ea typeface="Arial" pitchFamily="34" charset="-122"/>
                <a:cs typeface="Arial" pitchFamily="34" charset="-120"/>
              </a:rPr>
              <a:t>Cold application launch in under 250 milliseconds.
</a:t>
            </a:r>
            <a:endParaRPr lang="en-US" sz="950" dirty="0"/>
          </a:p>
        </p:txBody>
      </p:sp>
      <p:sp>
        <p:nvSpPr>
          <p:cNvPr id="11" name="Shape 9"/>
          <p:cNvSpPr/>
          <p:nvPr/>
        </p:nvSpPr>
        <p:spPr>
          <a:xfrm>
            <a:off x="3291840" y="1097280"/>
            <a:ext cx="2560320" cy="3657600"/>
          </a:xfrm>
          <a:prstGeom prst="roundRect">
            <a:avLst>
              <a:gd name="adj" fmla="val 3571"/>
            </a:avLst>
          </a:prstGeom>
          <a:solidFill>
            <a:srgbClr val="FFFFFF"/>
          </a:solidFill>
          <a:ln w="19050">
            <a:solidFill>
              <a:srgbClr val="0284C7"/>
            </a:solidFill>
            <a:prstDash val="solid"/>
          </a:ln>
        </p:spPr>
      </p:sp>
      <p:sp>
        <p:nvSpPr>
          <p:cNvPr id="12" name="Shape 10"/>
          <p:cNvSpPr/>
          <p:nvPr/>
        </p:nvSpPr>
        <p:spPr>
          <a:xfrm>
            <a:off x="3291840" y="1097280"/>
            <a:ext cx="2560320" cy="347472"/>
          </a:xfrm>
          <a:prstGeom prst="rect">
            <a:avLst/>
          </a:prstGeom>
          <a:solidFill>
            <a:srgbClr val="F8FAFC"/>
          </a:solidFill>
          <a:ln w="12700">
            <a:solidFill>
              <a:srgbClr val="0284C7"/>
            </a:solidFill>
            <a:prstDash val="solid"/>
          </a:ln>
        </p:spPr>
      </p:sp>
      <p:sp>
        <p:nvSpPr>
          <p:cNvPr id="13" name="Text 11"/>
          <p:cNvSpPr/>
          <p:nvPr/>
        </p:nvSpPr>
        <p:spPr>
          <a:xfrm>
            <a:off x="3429000" y="1133856"/>
            <a:ext cx="228600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Inference &amp; Latency</a:t>
            </a:r>
            <a:endParaRPr lang="en-US" sz="1150" dirty="0"/>
          </a:p>
        </p:txBody>
      </p:sp>
      <p:sp>
        <p:nvSpPr>
          <p:cNvPr id="14" name="Text 12"/>
          <p:cNvSpPr/>
          <p:nvPr/>
        </p:nvSpPr>
        <p:spPr>
          <a:xfrm>
            <a:off x="3429000" y="1481328"/>
            <a:ext cx="228600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&lt; 2.4 ms ML Inference: </a:t>
            </a:r>
            <a:pPr indent="0" marL="0">
              <a:spcBef>
                <a:spcPts val="300"/>
              </a:spcBef>
              <a:buNone/>
            </a:pPr>
            <a:r>
              <a:rPr lang="en-US" sz="950" dirty="0">
                <a:solidFill>
                  <a:srgbClr val="1E293B"/>
                </a:solidFill>
                <a:latin typeface="Arial" pitchFamily="34" charset="0"/>
                <a:ea typeface="Arial" pitchFamily="34" charset="-122"/>
                <a:cs typeface="Arial" pitchFamily="34" charset="-120"/>
              </a:rPr>
              <a:t>Local ONNX C++ Runtime inference time per evaluation.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12 ms Cycle Enumeration: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Full host process tree query duration.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1.1 s Subnet ARP Sweep: </a:t>
            </a:r>
            <a:pPr indent="0" marL="0">
              <a:spcBef>
                <a:spcPts val="300"/>
              </a:spcBef>
              <a:buNone/>
            </a:pPr>
            <a:r>
              <a:rPr lang="en-US" sz="950" dirty="0">
                <a:solidFill>
                  <a:srgbClr val="1E293B"/>
                </a:solidFill>
                <a:latin typeface="Arial" pitchFamily="34" charset="0"/>
                <a:ea typeface="Arial" pitchFamily="34" charset="-122"/>
                <a:cs typeface="Arial" pitchFamily="34" charset="-120"/>
              </a:rPr>
              <a:t>Local subnet device discovery duration.
</a:t>
            </a:r>
            <a:endParaRPr lang="en-US" sz="950" dirty="0"/>
          </a:p>
        </p:txBody>
      </p:sp>
      <p:sp>
        <p:nvSpPr>
          <p:cNvPr id="15" name="Shape 13"/>
          <p:cNvSpPr/>
          <p:nvPr/>
        </p:nvSpPr>
        <p:spPr>
          <a:xfrm>
            <a:off x="6126480" y="1097280"/>
            <a:ext cx="2560320" cy="3657600"/>
          </a:xfrm>
          <a:prstGeom prst="roundRect">
            <a:avLst>
              <a:gd name="adj" fmla="val 3571"/>
            </a:avLst>
          </a:prstGeom>
          <a:solidFill>
            <a:srgbClr val="FFFFFF"/>
          </a:solidFill>
          <a:ln w="19050">
            <a:solidFill>
              <a:srgbClr val="E2E8F0"/>
            </a:solidFill>
            <a:prstDash val="solid"/>
          </a:ln>
        </p:spPr>
      </p:sp>
      <p:sp>
        <p:nvSpPr>
          <p:cNvPr id="16" name="Shape 14"/>
          <p:cNvSpPr/>
          <p:nvPr/>
        </p:nvSpPr>
        <p:spPr>
          <a:xfrm>
            <a:off x="6126480" y="1097280"/>
            <a:ext cx="2560320" cy="347472"/>
          </a:xfrm>
          <a:prstGeom prst="rect">
            <a:avLst/>
          </a:prstGeom>
          <a:solidFill>
            <a:srgbClr val="F8FAFC"/>
          </a:solidFill>
          <a:ln w="12700">
            <a:solidFill>
              <a:srgbClr val="E2E8F0"/>
            </a:solidFill>
            <a:prstDash val="solid"/>
          </a:ln>
        </p:spPr>
      </p:sp>
      <p:sp>
        <p:nvSpPr>
          <p:cNvPr id="17" name="Text 15"/>
          <p:cNvSpPr/>
          <p:nvPr/>
        </p:nvSpPr>
        <p:spPr>
          <a:xfrm>
            <a:off x="6263640" y="1133856"/>
            <a:ext cx="228600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Operational Safety</a:t>
            </a:r>
            <a:endParaRPr lang="en-US" sz="1150" dirty="0"/>
          </a:p>
        </p:txBody>
      </p:sp>
      <p:sp>
        <p:nvSpPr>
          <p:cNvPr id="18" name="Text 16"/>
          <p:cNvSpPr/>
          <p:nvPr/>
        </p:nvSpPr>
        <p:spPr>
          <a:xfrm>
            <a:off x="6263640" y="1481328"/>
            <a:ext cx="228600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Elevated Privileges: </a:t>
            </a:r>
            <a:pPr indent="0" marL="0">
              <a:spcBef>
                <a:spcPts val="300"/>
              </a:spcBef>
              <a:buNone/>
            </a:pPr>
            <a:r>
              <a:rPr lang="en-US" sz="950" dirty="0">
                <a:solidFill>
                  <a:srgbClr val="1E293B"/>
                </a:solidFill>
                <a:latin typeface="Arial" pitchFamily="34" charset="0"/>
                <a:ea typeface="Arial" pitchFamily="34" charset="-122"/>
                <a:cs typeface="Arial" pitchFamily="34" charset="-120"/>
              </a:rPr>
              <a:t>Runs in Administrator mode for ETW and WFP firewall management.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User Confirmation: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Process termination &amp; IP blocking require explicit user confirmation.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OS Coexistence: </a:t>
            </a:r>
            <a:pPr indent="0" marL="0">
              <a:spcBef>
                <a:spcPts val="300"/>
              </a:spcBef>
              <a:buNone/>
            </a:pPr>
            <a:r>
              <a:rPr lang="en-US" sz="950" dirty="0">
                <a:solidFill>
                  <a:srgbClr val="1E293B"/>
                </a:solidFill>
                <a:latin typeface="Arial" pitchFamily="34" charset="0"/>
                <a:ea typeface="Arial" pitchFamily="34" charset="-122"/>
                <a:cs typeface="Arial" pitchFamily="34" charset="-120"/>
              </a:rPr>
              <a:t>Acts as a complementary monitoring layer; does not disable Windows Defender.
</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20040"/>
            <a:ext cx="6035040" cy="365760"/>
          </a:xfrm>
          <a:prstGeom prst="rect">
            <a:avLst/>
          </a:prstGeom>
          <a:noFill/>
          <a:ln/>
        </p:spPr>
        <p:txBody>
          <a:bodyPr wrap="square" rtlCol="0" anchor="ctr"/>
          <a:lstStyle/>
          <a:p>
            <a:pPr indent="0" marL="0">
              <a:buNone/>
            </a:pPr>
            <a:r>
              <a:rPr lang="en-US" sz="1800" b="1" dirty="0">
                <a:solidFill>
                  <a:srgbClr val="0F172A"/>
                </a:solidFill>
                <a:latin typeface="Arial" pitchFamily="34" charset="0"/>
                <a:ea typeface="Arial" pitchFamily="34" charset="-122"/>
                <a:cs typeface="Arial" pitchFamily="34" charset="-120"/>
              </a:rPr>
              <a:t>Product Roadmap &amp; Future Scope</a:t>
            </a:r>
            <a:endParaRPr lang="en-US" sz="1800" dirty="0"/>
          </a:p>
        </p:txBody>
      </p:sp>
      <p:sp>
        <p:nvSpPr>
          <p:cNvPr id="3" name="Text 1"/>
          <p:cNvSpPr/>
          <p:nvPr/>
        </p:nvSpPr>
        <p:spPr>
          <a:xfrm>
            <a:off x="457200" y="685800"/>
            <a:ext cx="6035040" cy="228600"/>
          </a:xfrm>
          <a:prstGeom prst="rect">
            <a:avLst/>
          </a:prstGeom>
          <a:noFill/>
          <a:ln/>
        </p:spPr>
        <p:txBody>
          <a:bodyPr wrap="square" rtlCol="0" anchor="ctr"/>
          <a:lstStyle/>
          <a:p>
            <a:pPr indent="0" marL="0">
              <a:buNone/>
            </a:pPr>
            <a:r>
              <a:rPr lang="en-US" sz="1050" dirty="0">
                <a:solidFill>
                  <a:srgbClr val="0284C7"/>
                </a:solidFill>
                <a:latin typeface="Arial" pitchFamily="34" charset="0"/>
                <a:ea typeface="Arial" pitchFamily="34" charset="-122"/>
                <a:cs typeface="Arial" pitchFamily="34" charset="-120"/>
              </a:rPr>
              <a:t>Transitioning from Endpoint MVP to Enterprise EDR Framework</a:t>
            </a:r>
            <a:endParaRPr lang="en-US" sz="1050" dirty="0"/>
          </a:p>
        </p:txBody>
      </p:sp>
      <p:sp>
        <p:nvSpPr>
          <p:cNvPr id="4" name="Shape 2"/>
          <p:cNvSpPr/>
          <p:nvPr/>
        </p:nvSpPr>
        <p:spPr>
          <a:xfrm>
            <a:off x="6675120" y="320040"/>
            <a:ext cx="2011680" cy="365760"/>
          </a:xfrm>
          <a:prstGeom prst="roundRect">
            <a:avLst>
              <a:gd name="adj" fmla="val 50000"/>
            </a:avLst>
          </a:prstGeom>
          <a:solidFill>
            <a:srgbClr val="F1F5F9"/>
          </a:solidFill>
          <a:ln w="12700">
            <a:solidFill>
              <a:srgbClr val="7C3AED"/>
            </a:solidFill>
            <a:prstDash val="solid"/>
          </a:ln>
        </p:spPr>
      </p:sp>
      <p:sp>
        <p:nvSpPr>
          <p:cNvPr id="5" name="Text 3"/>
          <p:cNvSpPr/>
          <p:nvPr/>
        </p:nvSpPr>
        <p:spPr>
          <a:xfrm>
            <a:off x="6675120" y="320040"/>
            <a:ext cx="2011680" cy="365760"/>
          </a:xfrm>
          <a:prstGeom prst="rect">
            <a:avLst/>
          </a:prstGeom>
          <a:noFill/>
          <a:ln/>
        </p:spPr>
        <p:txBody>
          <a:bodyPr wrap="square" rtlCol="0" anchor="ctr"/>
          <a:lstStyle/>
          <a:p>
            <a:pPr algn="ctr" indent="0" marL="0">
              <a:buNone/>
            </a:pPr>
            <a:r>
              <a:rPr lang="en-US" sz="900" b="1" dirty="0">
                <a:solidFill>
                  <a:srgbClr val="7C3AED"/>
                </a:solidFill>
                <a:latin typeface="Arial" pitchFamily="34" charset="0"/>
                <a:ea typeface="Arial" pitchFamily="34" charset="-122"/>
                <a:cs typeface="Arial" pitchFamily="34" charset="-120"/>
              </a:rPr>
              <a:t>🎙️ Soham Wadale</a:t>
            </a:r>
            <a:endParaRPr lang="en-US" sz="900" dirty="0"/>
          </a:p>
        </p:txBody>
      </p:sp>
      <p:sp>
        <p:nvSpPr>
          <p:cNvPr id="6" name="Shape 4"/>
          <p:cNvSpPr/>
          <p:nvPr/>
        </p:nvSpPr>
        <p:spPr>
          <a:xfrm>
            <a:off x="457200" y="960120"/>
            <a:ext cx="8229600" cy="0"/>
          </a:xfrm>
          <a:prstGeom prst="line">
            <a:avLst/>
          </a:prstGeom>
          <a:noFill/>
          <a:ln w="12700">
            <a:solidFill>
              <a:srgbClr val="E2E8F0"/>
            </a:solidFill>
            <a:prstDash val="solid"/>
          </a:ln>
        </p:spPr>
      </p:sp>
      <p:sp>
        <p:nvSpPr>
          <p:cNvPr id="7" name="Shape 5"/>
          <p:cNvSpPr/>
          <p:nvPr/>
        </p:nvSpPr>
        <p:spPr>
          <a:xfrm>
            <a:off x="457200" y="1097280"/>
            <a:ext cx="3977640" cy="3657600"/>
          </a:xfrm>
          <a:prstGeom prst="roundRect">
            <a:avLst>
              <a:gd name="adj" fmla="val 2500"/>
            </a:avLst>
          </a:prstGeom>
          <a:solidFill>
            <a:srgbClr val="FFFFFF"/>
          </a:solidFill>
          <a:ln w="19050">
            <a:solidFill>
              <a:srgbClr val="E2E8F0"/>
            </a:solidFill>
            <a:prstDash val="solid"/>
          </a:ln>
        </p:spPr>
      </p:sp>
      <p:sp>
        <p:nvSpPr>
          <p:cNvPr id="8" name="Shape 6"/>
          <p:cNvSpPr/>
          <p:nvPr/>
        </p:nvSpPr>
        <p:spPr>
          <a:xfrm>
            <a:off x="457200" y="1097280"/>
            <a:ext cx="3977640" cy="347472"/>
          </a:xfrm>
          <a:prstGeom prst="rect">
            <a:avLst/>
          </a:prstGeom>
          <a:solidFill>
            <a:srgbClr val="F8FAFC"/>
          </a:solidFill>
          <a:ln w="12700">
            <a:solidFill>
              <a:srgbClr val="E2E8F0"/>
            </a:solidFill>
            <a:prstDash val="solid"/>
          </a:ln>
        </p:spPr>
      </p:sp>
      <p:sp>
        <p:nvSpPr>
          <p:cNvPr id="9" name="Text 7"/>
          <p:cNvSpPr/>
          <p:nvPr/>
        </p:nvSpPr>
        <p:spPr>
          <a:xfrm>
            <a:off x="59436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Phase 1: Near-Term Enhancements</a:t>
            </a:r>
            <a:endParaRPr lang="en-US" sz="1150" dirty="0"/>
          </a:p>
        </p:txBody>
      </p:sp>
      <p:sp>
        <p:nvSpPr>
          <p:cNvPr id="10" name="Text 8"/>
          <p:cNvSpPr/>
          <p:nvPr/>
        </p:nvSpPr>
        <p:spPr>
          <a:xfrm>
            <a:off x="59436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Cross-Platform Support: </a:t>
            </a:r>
            <a:pPr indent="0" marL="0">
              <a:spcBef>
                <a:spcPts val="300"/>
              </a:spcBef>
              <a:buNone/>
            </a:pPr>
            <a:r>
              <a:rPr lang="en-US" sz="950" dirty="0">
                <a:solidFill>
                  <a:srgbClr val="1E293B"/>
                </a:solidFill>
                <a:latin typeface="Arial" pitchFamily="34" charset="0"/>
                <a:ea typeface="Arial" pitchFamily="34" charset="-122"/>
                <a:cs typeface="Arial" pitchFamily="34" charset="-120"/>
              </a:rPr>
              <a:t>Porting kernel telemetry probes to Linux via eBPF and macOS via Endpoint Security API.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Automated Quarantine: </a:t>
            </a:r>
            <a:pPr indent="0" marL="0">
              <a:spcBef>
                <a:spcPts val="300"/>
              </a:spcBef>
              <a:buNone/>
            </a:pPr>
            <a:r>
              <a:rPr lang="en-US" sz="950" dirty="0">
                <a:solidFill>
                  <a:srgbClr val="1E293B"/>
                </a:solidFill>
                <a:latin typeface="Arial" pitchFamily="34" charset="0"/>
                <a:ea typeface="Arial" pitchFamily="34" charset="-122"/>
                <a:cs typeface="Arial" pitchFamily="34" charset="-120"/>
              </a:rPr>
              <a:t>Optional auto-isolation of network interfaces upon critical ransomware alerts.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YARA Rule Scanning: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Live scanning of process memory buffers against custom YARA threat rules.
</a:t>
            </a:r>
            <a:endParaRPr lang="en-US" sz="950" dirty="0"/>
          </a:p>
        </p:txBody>
      </p:sp>
      <p:sp>
        <p:nvSpPr>
          <p:cNvPr id="11" name="Shape 9"/>
          <p:cNvSpPr/>
          <p:nvPr/>
        </p:nvSpPr>
        <p:spPr>
          <a:xfrm>
            <a:off x="4709160" y="1097280"/>
            <a:ext cx="3977640" cy="3657600"/>
          </a:xfrm>
          <a:prstGeom prst="roundRect">
            <a:avLst>
              <a:gd name="adj" fmla="val 2500"/>
            </a:avLst>
          </a:prstGeom>
          <a:solidFill>
            <a:srgbClr val="FFFFFF"/>
          </a:solidFill>
          <a:ln w="19050">
            <a:solidFill>
              <a:srgbClr val="0284C7"/>
            </a:solidFill>
            <a:prstDash val="solid"/>
          </a:ln>
        </p:spPr>
      </p:sp>
      <p:sp>
        <p:nvSpPr>
          <p:cNvPr id="12" name="Shape 10"/>
          <p:cNvSpPr/>
          <p:nvPr/>
        </p:nvSpPr>
        <p:spPr>
          <a:xfrm>
            <a:off x="4709160" y="1097280"/>
            <a:ext cx="3977640" cy="347472"/>
          </a:xfrm>
          <a:prstGeom prst="rect">
            <a:avLst/>
          </a:prstGeom>
          <a:solidFill>
            <a:srgbClr val="F8FAFC"/>
          </a:solidFill>
          <a:ln w="12700">
            <a:solidFill>
              <a:srgbClr val="0284C7"/>
            </a:solidFill>
            <a:prstDash val="solid"/>
          </a:ln>
        </p:spPr>
      </p:sp>
      <p:sp>
        <p:nvSpPr>
          <p:cNvPr id="13" name="Text 11"/>
          <p:cNvSpPr/>
          <p:nvPr/>
        </p:nvSpPr>
        <p:spPr>
          <a:xfrm>
            <a:off x="4846320" y="1133856"/>
            <a:ext cx="3703320" cy="274320"/>
          </a:xfrm>
          <a:prstGeom prst="rect">
            <a:avLst/>
          </a:prstGeom>
          <a:noFill/>
          <a:ln/>
        </p:spPr>
        <p:txBody>
          <a:bodyPr wrap="square" rtlCol="0" anchor="ctr"/>
          <a:lstStyle/>
          <a:p>
            <a:pPr indent="0" marL="0">
              <a:buNone/>
            </a:pPr>
            <a:r>
              <a:rPr lang="en-US" sz="1150" b="1" dirty="0">
                <a:solidFill>
                  <a:srgbClr val="0284C7"/>
                </a:solidFill>
                <a:latin typeface="Arial" pitchFamily="34" charset="0"/>
                <a:ea typeface="Arial" pitchFamily="34" charset="-122"/>
                <a:cs typeface="Arial" pitchFamily="34" charset="-120"/>
              </a:rPr>
              <a:t>🌐 Phase 2: Enterprise Infrastructure</a:t>
            </a:r>
            <a:endParaRPr lang="en-US" sz="1150" dirty="0"/>
          </a:p>
        </p:txBody>
      </p:sp>
      <p:sp>
        <p:nvSpPr>
          <p:cNvPr id="14" name="Text 12"/>
          <p:cNvSpPr/>
          <p:nvPr/>
        </p:nvSpPr>
        <p:spPr>
          <a:xfrm>
            <a:off x="4846320" y="1481328"/>
            <a:ext cx="3703320" cy="3218688"/>
          </a:xfrm>
          <a:prstGeom prst="rect">
            <a:avLst/>
          </a:prstGeom>
          <a:noFill/>
          <a:ln/>
        </p:spPr>
        <p:txBody>
          <a:bodyPr wrap="square" rtlCol="0" anchor="t"/>
          <a:lstStyle/>
          <a:p>
            <a:pPr>
              <a:spcBef>
                <a:spcPts val="300"/>
              </a:spcBef>
            </a:pPr>
            <a:r>
              <a:rPr lang="en-US" sz="950" b="1" dirty="0">
                <a:solidFill>
                  <a:srgbClr val="0F172A"/>
                </a:solidFill>
                <a:latin typeface="Arial" pitchFamily="34" charset="0"/>
                <a:ea typeface="Arial" pitchFamily="34" charset="-122"/>
                <a:cs typeface="Arial" pitchFamily="34" charset="-120"/>
              </a:rPr>
              <a:t>Centralized Fleet Management: </a:t>
            </a:r>
            <a:pPr indent="0" marL="0">
              <a:spcBef>
                <a:spcPts val="300"/>
              </a:spcBef>
              <a:buNone/>
            </a:pPr>
            <a:r>
              <a:rPr lang="en-US" sz="950" dirty="0">
                <a:solidFill>
                  <a:srgbClr val="1E293B"/>
                </a:solidFill>
                <a:latin typeface="Arial" pitchFamily="34" charset="0"/>
                <a:ea typeface="Arial" pitchFamily="34" charset="-122"/>
                <a:cs typeface="Arial" pitchFamily="34" charset="-120"/>
              </a:rPr>
              <a:t>Multi-agent management server console for enterprise workstation fleets.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SIEM Connector Integration: </a:t>
            </a:r>
            <a:pPr indent="0" marL="0">
              <a:spcBef>
                <a:spcPts val="300"/>
              </a:spcBef>
              <a:buNone/>
            </a:pPr>
            <a:r>
              <a:rPr lang="en-US" sz="950" dirty="0">
                <a:solidFill>
                  <a:srgbClr val="1E293B"/>
                </a:solidFill>
                <a:latin typeface="Arial" pitchFamily="34" charset="0"/>
                <a:ea typeface="Arial" pitchFamily="34" charset="-122"/>
                <a:cs typeface="Arial" pitchFamily="34" charset="-120"/>
              </a:rPr>
              <a:t>Native Syslog/CEF export to Splunk, Elastic, and Microsoft Sentinel.
</a:t>
            </a:r>
            <a:pPr indent="0" marL="0">
              <a:spcBef>
                <a:spcPts val="300"/>
              </a:spcBef>
              <a:buNone/>
            </a:pPr>
            <a:r>
              <a:rPr lang="en-US" sz="950" b="1" dirty="0">
                <a:solidFill>
                  <a:srgbClr val="0F172A"/>
                </a:solidFill>
                <a:latin typeface="Arial" pitchFamily="34" charset="0"/>
                <a:ea typeface="Arial" pitchFamily="34" charset="-122"/>
                <a:cs typeface="Arial" pitchFamily="34" charset="-120"/>
              </a:rPr>
              <a:t>Continuous ML Updating: </a:t>
            </a:r>
            <a:pPr indent="0" marL="0">
              <a:spcBef>
                <a:spcPts val="300"/>
              </a:spcBef>
              <a:buNone/>
            </a:pPr>
            <a:r>
              <a:rPr lang="en-US" sz="950" dirty="0">
                <a:solidFill>
                  <a:srgbClr val="1E293B"/>
                </a:solidFill>
                <a:latin typeface="Arial" pitchFamily="34" charset="0"/>
                <a:ea typeface="Arial" pitchFamily="34" charset="-122"/>
                <a:cs typeface="Arial" pitchFamily="34" charset="-120"/>
              </a:rPr>
              <a:t>Federated on-device model updating with feedback loops.
</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548640"/>
            <a:ext cx="8229600" cy="320040"/>
          </a:xfrm>
          <a:prstGeom prst="rect">
            <a:avLst/>
          </a:prstGeom>
          <a:noFill/>
          <a:ln/>
        </p:spPr>
        <p:txBody>
          <a:bodyPr wrap="square" rtlCol="0" anchor="ctr"/>
          <a:lstStyle/>
          <a:p>
            <a:pPr algn="ctr" indent="0" marL="0">
              <a:buNone/>
            </a:pPr>
            <a:r>
              <a:rPr lang="en-US" sz="1100" b="1" dirty="0">
                <a:solidFill>
                  <a:srgbClr val="059669"/>
                </a:solidFill>
                <a:latin typeface="Arial" pitchFamily="34" charset="0"/>
                <a:ea typeface="Arial" pitchFamily="34" charset="-122"/>
                <a:cs typeface="Arial" pitchFamily="34" charset="-120"/>
              </a:rPr>
              <a:t>PROJECT COMPLETION &amp; EVALUATION</a:t>
            </a:r>
            <a:endParaRPr lang="en-US" sz="1100" dirty="0"/>
          </a:p>
        </p:txBody>
      </p:sp>
      <p:sp>
        <p:nvSpPr>
          <p:cNvPr id="3" name="Text 1"/>
          <p:cNvSpPr/>
          <p:nvPr/>
        </p:nvSpPr>
        <p:spPr>
          <a:xfrm>
            <a:off x="457200" y="960120"/>
            <a:ext cx="8229600" cy="68580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4" name="Text 2"/>
          <p:cNvSpPr/>
          <p:nvPr/>
        </p:nvSpPr>
        <p:spPr>
          <a:xfrm>
            <a:off x="457200" y="1691640"/>
            <a:ext cx="8229600" cy="365760"/>
          </a:xfrm>
          <a:prstGeom prst="rect">
            <a:avLst/>
          </a:prstGeom>
          <a:noFill/>
          <a:ln/>
        </p:spPr>
        <p:txBody>
          <a:bodyPr wrap="square" rtlCol="0" anchor="ctr"/>
          <a:lstStyle/>
          <a:p>
            <a:pPr algn="ctr" indent="0" marL="0">
              <a:buNone/>
            </a:pPr>
            <a:r>
              <a:rPr lang="en-US" sz="1400" dirty="0">
                <a:solidFill>
                  <a:srgbClr val="CBD5E1"/>
                </a:solidFill>
                <a:latin typeface="Arial" pitchFamily="34" charset="0"/>
                <a:ea typeface="Arial" pitchFamily="34" charset="-122"/>
                <a:cs typeface="Arial" pitchFamily="34" charset="-120"/>
              </a:rPr>
              <a:t>Sentinel AI — Intelligent Endpoint Threat Detection &amp; Response System</a:t>
            </a:r>
            <a:endParaRPr lang="en-US" sz="1400" dirty="0"/>
          </a:p>
        </p:txBody>
      </p:sp>
      <p:sp>
        <p:nvSpPr>
          <p:cNvPr id="5" name="Shape 3"/>
          <p:cNvSpPr/>
          <p:nvPr/>
        </p:nvSpPr>
        <p:spPr>
          <a:xfrm>
            <a:off x="914400" y="2423160"/>
            <a:ext cx="7315200" cy="1188720"/>
          </a:xfrm>
          <a:prstGeom prst="roundRect">
            <a:avLst>
              <a:gd name="adj" fmla="val 7692"/>
            </a:avLst>
          </a:prstGeom>
          <a:solidFill>
            <a:srgbClr val="1E293B"/>
          </a:solidFill>
          <a:ln w="19050">
            <a:solidFill>
              <a:srgbClr val="0284C7"/>
            </a:solidFill>
            <a:prstDash val="solid"/>
          </a:ln>
        </p:spPr>
      </p:sp>
      <p:sp>
        <p:nvSpPr>
          <p:cNvPr id="6" name="Text 4"/>
          <p:cNvSpPr/>
          <p:nvPr/>
        </p:nvSpPr>
        <p:spPr>
          <a:xfrm>
            <a:off x="914400" y="2606040"/>
            <a:ext cx="7315200" cy="27432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 Official Project GitHub Repository:</a:t>
            </a:r>
            <a:endParaRPr lang="en-US" sz="1200" dirty="0"/>
          </a:p>
        </p:txBody>
      </p:sp>
      <p:sp>
        <p:nvSpPr>
          <p:cNvPr id="7" name="Text 5"/>
          <p:cNvSpPr/>
          <p:nvPr/>
        </p:nvSpPr>
        <p:spPr>
          <a:xfrm>
            <a:off x="914400" y="2971800"/>
            <a:ext cx="7315200" cy="365760"/>
          </a:xfrm>
          <a:prstGeom prst="rect">
            <a:avLst/>
          </a:prstGeom>
          <a:noFill/>
          <a:ln/>
        </p:spPr>
        <p:txBody>
          <a:bodyPr wrap="square" rtlCol="0" anchor="ctr"/>
          <a:lstStyle/>
          <a:p>
            <a:pPr algn="ctr" indent="0" marL="0">
              <a:buNone/>
            </a:pPr>
            <a:r>
              <a:rPr lang="en-US" sz="1400" b="1" dirty="0">
                <a:solidFill>
                  <a:srgbClr val="0284C7"/>
                </a:solidFill>
                <a:latin typeface="Arial" pitchFamily="34" charset="0"/>
                <a:ea typeface="Arial" pitchFamily="34" charset="-122"/>
                <a:cs typeface="Arial" pitchFamily="34" charset="-120"/>
              </a:rPr>
              <a:t>https://github.com/Tanmay155-glitch/Sentinal-AI.git</a:t>
            </a:r>
            <a:endParaRPr lang="en-US" sz="1400" dirty="0"/>
          </a:p>
        </p:txBody>
      </p:sp>
      <p:sp>
        <p:nvSpPr>
          <p:cNvPr id="8" name="Text 6"/>
          <p:cNvSpPr/>
          <p:nvPr/>
        </p:nvSpPr>
        <p:spPr>
          <a:xfrm>
            <a:off x="457200" y="3931920"/>
            <a:ext cx="8229600" cy="365760"/>
          </a:xfrm>
          <a:prstGeom prst="rect">
            <a:avLst/>
          </a:prstGeom>
          <a:noFill/>
          <a:ln/>
        </p:spPr>
        <p:txBody>
          <a:bodyPr wrap="square" rtlCol="0" anchor="ctr"/>
          <a:lstStyle/>
          <a:p>
            <a:pPr algn="ctr" indent="0" marL="0">
              <a:buNone/>
            </a:pPr>
            <a:r>
              <a:rPr lang="en-US" sz="1100" dirty="0">
                <a:solidFill>
                  <a:srgbClr val="CBD5E1"/>
                </a:solidFill>
                <a:latin typeface="Arial" pitchFamily="34" charset="0"/>
                <a:ea typeface="Arial" pitchFamily="34" charset="-122"/>
                <a:cs typeface="Arial" pitchFamily="34" charset="-120"/>
              </a:rPr>
              <a:t>Presenters: Tanmay Gawali (Lead)  |  Divij Kulkarni  |  Soham Wadale  |  Ananya Kaushik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Final Year Capstone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AI — Executive Industry Presentation</dc:title>
  <dc:subject>PptxGenJS Presentation</dc:subject>
  <dc:creator>Tanmay Gawali, Divij Kulkarni, Soham Wadale, Ananya Kaushik</dc:creator>
  <cp:lastModifiedBy>Tanmay Gawali, Divij Kulkarni, Soham Wadale, Ananya Kaushik</cp:lastModifiedBy>
  <cp:revision>1</cp:revision>
  <dcterms:created xsi:type="dcterms:W3CDTF">2026-08-18T17:44:04Z</dcterms:created>
  <dcterms:modified xsi:type="dcterms:W3CDTF">2026-08-18T17:44:04Z</dcterms:modified>
</cp:coreProperties>
</file>